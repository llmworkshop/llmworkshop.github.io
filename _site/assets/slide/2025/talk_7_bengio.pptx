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1661" r:id="rId2"/>
    <p:sldId id="1777" r:id="rId3"/>
    <p:sldId id="1772" r:id="rId4"/>
    <p:sldId id="1773" r:id="rId5"/>
    <p:sldId id="1709" r:id="rId6"/>
    <p:sldId id="1756" r:id="rId7"/>
    <p:sldId id="1755" r:id="rId8"/>
    <p:sldId id="1742" r:id="rId9"/>
    <p:sldId id="1758" r:id="rId10"/>
    <p:sldId id="1759" r:id="rId11"/>
    <p:sldId id="1774" r:id="rId12"/>
    <p:sldId id="1725" r:id="rId13"/>
    <p:sldId id="1715" r:id="rId14"/>
    <p:sldId id="1766" r:id="rId15"/>
    <p:sldId id="1722" r:id="rId16"/>
    <p:sldId id="1752" r:id="rId17"/>
    <p:sldId id="293" r:id="rId18"/>
    <p:sldId id="1783" r:id="rId19"/>
    <p:sldId id="1657" r:id="rId20"/>
    <p:sldId id="1782" r:id="rId21"/>
    <p:sldId id="1745" r:id="rId22"/>
    <p:sldId id="1679" r:id="rId23"/>
    <p:sldId id="1778" r:id="rId24"/>
    <p:sldId id="1787" r:id="rId25"/>
    <p:sldId id="1784" r:id="rId26"/>
    <p:sldId id="1724" r:id="rId27"/>
    <p:sldId id="274" r:id="rId28"/>
    <p:sldId id="1775" r:id="rId29"/>
    <p:sldId id="282" r:id="rId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hJlnY/IbbmBuhItx7IfUSXBUGDY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ören Mindermann" initials="" lastIdx="2" clrIdx="0"/>
  <p:cmAuthor id="2" name="Daniel Privitera" initials="" lastIdx="2" clrIdx="1"/>
  <p:cmAuthor id="3" name="Yoshua Bengio" initials="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9" autoAdjust="0"/>
    <p:restoredTop sz="96281"/>
  </p:normalViewPr>
  <p:slideViewPr>
    <p:cSldViewPr snapToGrid="0" snapToObjects="1">
      <p:cViewPr varScale="1">
        <p:scale>
          <a:sx n="93" d="100"/>
          <a:sy n="93" d="100"/>
        </p:scale>
        <p:origin x="7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1" d="100"/>
        <a:sy n="17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63" Type="http://customschemas.google.com/relationships/presentationmetadata" Target="meta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6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9" name="Google Shape;19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CA" dirty="0"/>
              <a:t>40 min total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CA" dirty="0"/>
              <a:t>An </a:t>
            </a:r>
            <a:r>
              <a:rPr lang="fr-CA" dirty="0" err="1"/>
              <a:t>agentic</a:t>
            </a:r>
            <a:r>
              <a:rPr lang="fr-CA" dirty="0"/>
              <a:t> AI </a:t>
            </a:r>
            <a:r>
              <a:rPr lang="fr-CA" dirty="0" err="1"/>
              <a:t>would</a:t>
            </a:r>
            <a:r>
              <a:rPr lang="fr-CA" dirty="0"/>
              <a:t> </a:t>
            </a:r>
            <a:r>
              <a:rPr lang="fr-CA" dirty="0" err="1"/>
              <a:t>be</a:t>
            </a:r>
            <a:r>
              <a:rPr lang="fr-CA" dirty="0"/>
              <a:t> an </a:t>
            </a:r>
            <a:r>
              <a:rPr lang="fr-CA" dirty="0" err="1"/>
              <a:t>autonomous</a:t>
            </a:r>
            <a:r>
              <a:rPr lang="fr-CA" dirty="0"/>
              <a:t> </a:t>
            </a:r>
            <a:r>
              <a:rPr lang="fr-CA" dirty="0" err="1"/>
              <a:t>entity</a:t>
            </a:r>
            <a:r>
              <a:rPr lang="fr-CA" dirty="0"/>
              <a:t> </a:t>
            </a:r>
            <a:r>
              <a:rPr lang="fr-CA" dirty="0" err="1"/>
              <a:t>that</a:t>
            </a:r>
            <a:r>
              <a:rPr lang="fr-CA" dirty="0"/>
              <a:t> can plan over the long </a:t>
            </a:r>
            <a:r>
              <a:rPr lang="fr-CA" dirty="0" err="1"/>
              <a:t>term</a:t>
            </a:r>
            <a:r>
              <a:rPr lang="fr-CA" dirty="0"/>
              <a:t> to </a:t>
            </a:r>
            <a:r>
              <a:rPr lang="fr-CA" dirty="0" err="1"/>
              <a:t>achieve</a:t>
            </a:r>
            <a:r>
              <a:rPr lang="fr-CA" dirty="0"/>
              <a:t> </a:t>
            </a:r>
            <a:r>
              <a:rPr lang="fr-CA" dirty="0" err="1"/>
              <a:t>complex</a:t>
            </a:r>
            <a:r>
              <a:rPr lang="fr-CA" dirty="0"/>
              <a:t> goals, and </a:t>
            </a:r>
            <a:r>
              <a:rPr lang="fr-CA" dirty="0" err="1"/>
              <a:t>these</a:t>
            </a:r>
            <a:r>
              <a:rPr lang="fr-CA" dirty="0"/>
              <a:t> </a:t>
            </a:r>
            <a:r>
              <a:rPr lang="fr-CA" dirty="0" err="1"/>
              <a:t>abilities</a:t>
            </a:r>
            <a:r>
              <a:rPr lang="fr-CA" dirty="0"/>
              <a:t> </a:t>
            </a:r>
            <a:r>
              <a:rPr lang="fr-CA" dirty="0" err="1"/>
              <a:t>would</a:t>
            </a:r>
            <a:r>
              <a:rPr lang="fr-CA" dirty="0"/>
              <a:t> </a:t>
            </a:r>
            <a:r>
              <a:rPr lang="fr-CA" dirty="0" err="1"/>
              <a:t>be</a:t>
            </a:r>
            <a:r>
              <a:rPr lang="fr-CA" dirty="0"/>
              <a:t> </a:t>
            </a:r>
            <a:r>
              <a:rPr lang="fr-CA" dirty="0" err="1"/>
              <a:t>extremely</a:t>
            </a:r>
            <a:r>
              <a:rPr lang="fr-CA" dirty="0"/>
              <a:t> </a:t>
            </a:r>
            <a:r>
              <a:rPr lang="fr-CA" dirty="0" err="1"/>
              <a:t>commercially</a:t>
            </a:r>
            <a:r>
              <a:rPr lang="fr-CA" dirty="0"/>
              <a:t> </a:t>
            </a:r>
            <a:r>
              <a:rPr lang="fr-CA" dirty="0" err="1"/>
              <a:t>valuable</a:t>
            </a:r>
            <a:r>
              <a:rPr lang="fr-CA" dirty="0"/>
              <a:t> for </a:t>
            </a:r>
            <a:r>
              <a:rPr lang="fr-CA" dirty="0" err="1"/>
              <a:t>replacing</a:t>
            </a:r>
            <a:r>
              <a:rPr lang="fr-CA" dirty="0"/>
              <a:t> </a:t>
            </a:r>
            <a:r>
              <a:rPr lang="fr-CA" dirty="0" err="1"/>
              <a:t>many</a:t>
            </a:r>
            <a:r>
              <a:rPr lang="fr-CA" dirty="0"/>
              <a:t> </a:t>
            </a:r>
            <a:r>
              <a:rPr lang="fr-CA" dirty="0" err="1"/>
              <a:t>human</a:t>
            </a:r>
            <a:r>
              <a:rPr lang="fr-CA" dirty="0"/>
              <a:t> </a:t>
            </a:r>
            <a:r>
              <a:rPr lang="fr-CA" dirty="0" err="1"/>
              <a:t>tasks</a:t>
            </a:r>
            <a:r>
              <a:rPr lang="fr-CA" dirty="0"/>
              <a:t>. The </a:t>
            </a:r>
            <a:r>
              <a:rPr lang="fr-CA" dirty="0" err="1"/>
              <a:t>disadvantage</a:t>
            </a:r>
            <a:r>
              <a:rPr lang="fr-CA" dirty="0"/>
              <a:t> </a:t>
            </a:r>
            <a:r>
              <a:rPr lang="fr-CA" dirty="0" err="1"/>
              <a:t>is</a:t>
            </a:r>
            <a:r>
              <a:rPr lang="fr-CA" dirty="0"/>
              <a:t> </a:t>
            </a:r>
            <a:r>
              <a:rPr lang="fr-CA" dirty="0" err="1"/>
              <a:t>that</a:t>
            </a:r>
            <a:r>
              <a:rPr lang="fr-CA" dirty="0"/>
              <a:t> </a:t>
            </a:r>
            <a:r>
              <a:rPr lang="fr-CA" dirty="0" err="1"/>
              <a:t>it</a:t>
            </a:r>
            <a:r>
              <a:rPr lang="fr-CA" dirty="0"/>
              <a:t> </a:t>
            </a:r>
            <a:r>
              <a:rPr lang="fr-CA" dirty="0" err="1"/>
              <a:t>could</a:t>
            </a:r>
            <a:r>
              <a:rPr lang="fr-CA" dirty="0"/>
              <a:t> </a:t>
            </a:r>
            <a:r>
              <a:rPr lang="fr-CA" dirty="0" err="1"/>
              <a:t>create</a:t>
            </a:r>
            <a:r>
              <a:rPr lang="fr-CA" dirty="0"/>
              <a:t> </a:t>
            </a:r>
            <a:r>
              <a:rPr lang="fr-CA" dirty="0" err="1"/>
              <a:t>economic</a:t>
            </a:r>
            <a:r>
              <a:rPr lang="fr-CA" dirty="0"/>
              <a:t> chaos in the short </a:t>
            </a:r>
            <a:r>
              <a:rPr lang="fr-CA" dirty="0" err="1"/>
              <a:t>term</a:t>
            </a:r>
            <a:r>
              <a:rPr lang="fr-CA" dirty="0"/>
              <a:t> (due to labour </a:t>
            </a:r>
            <a:r>
              <a:rPr lang="fr-CA" dirty="0" err="1"/>
              <a:t>market</a:t>
            </a:r>
            <a:r>
              <a:rPr lang="fr-CA" dirty="0"/>
              <a:t> disruptions) and </a:t>
            </a:r>
            <a:r>
              <a:rPr lang="fr-CA" dirty="0" err="1"/>
              <a:t>spell</a:t>
            </a:r>
            <a:r>
              <a:rPr lang="fr-CA" dirty="0"/>
              <a:t> the end of </a:t>
            </a:r>
            <a:r>
              <a:rPr lang="fr-CA" dirty="0" err="1"/>
              <a:t>humanity</a:t>
            </a:r>
            <a:r>
              <a:rPr lang="fr-CA" dirty="0"/>
              <a:t> (in the case of </a:t>
            </a:r>
            <a:r>
              <a:rPr lang="fr-CA" dirty="0" err="1"/>
              <a:t>loss</a:t>
            </a:r>
            <a:r>
              <a:rPr lang="fr-CA" dirty="0"/>
              <a:t> of </a:t>
            </a:r>
            <a:r>
              <a:rPr lang="fr-CA" dirty="0" err="1"/>
              <a:t>human</a:t>
            </a:r>
            <a:r>
              <a:rPr lang="fr-CA" dirty="0"/>
              <a:t> control) or massive disruption in the hands of </a:t>
            </a:r>
            <a:r>
              <a:rPr lang="fr-CA" dirty="0" err="1"/>
              <a:t>terrorists</a:t>
            </a:r>
            <a:r>
              <a:rPr lang="fr-CA" dirty="0"/>
              <a:t> or </a:t>
            </a:r>
            <a:r>
              <a:rPr lang="fr-CA" dirty="0" err="1"/>
              <a:t>malicious</a:t>
            </a:r>
            <a:r>
              <a:rPr lang="fr-CA" dirty="0"/>
              <a:t> state </a:t>
            </a:r>
            <a:r>
              <a:rPr lang="fr-CA" dirty="0" err="1"/>
              <a:t>actors</a:t>
            </a:r>
            <a:r>
              <a:rPr lang="fr-CA" dirty="0"/>
              <a:t>. Right </a:t>
            </a:r>
            <a:r>
              <a:rPr lang="fr-CA" dirty="0" err="1"/>
              <a:t>now</a:t>
            </a:r>
            <a:r>
              <a:rPr lang="fr-CA" dirty="0"/>
              <a:t>, </a:t>
            </a:r>
            <a:r>
              <a:rPr lang="fr-CA" dirty="0" err="1"/>
              <a:t>we</a:t>
            </a:r>
            <a:r>
              <a:rPr lang="fr-CA" dirty="0"/>
              <a:t> do not know how to </a:t>
            </a:r>
            <a:r>
              <a:rPr lang="fr-CA" dirty="0" err="1"/>
              <a:t>build</a:t>
            </a:r>
            <a:r>
              <a:rPr lang="fr-CA" dirty="0"/>
              <a:t> </a:t>
            </a:r>
            <a:r>
              <a:rPr lang="fr-CA" dirty="0" err="1"/>
              <a:t>superintelligent</a:t>
            </a:r>
            <a:r>
              <a:rPr lang="fr-CA" dirty="0"/>
              <a:t> AI agents </a:t>
            </a:r>
            <a:r>
              <a:rPr lang="fr-CA" dirty="0" err="1"/>
              <a:t>that</a:t>
            </a:r>
            <a:r>
              <a:rPr lang="fr-CA" dirty="0"/>
              <a:t> </a:t>
            </a:r>
            <a:r>
              <a:rPr lang="fr-CA" dirty="0" err="1"/>
              <a:t>would</a:t>
            </a:r>
            <a:r>
              <a:rPr lang="fr-CA" dirty="0"/>
              <a:t> </a:t>
            </a:r>
            <a:r>
              <a:rPr lang="fr-CA" dirty="0" err="1"/>
              <a:t>be</a:t>
            </a:r>
            <a:r>
              <a:rPr lang="fr-CA" dirty="0"/>
              <a:t> </a:t>
            </a:r>
            <a:r>
              <a:rPr lang="fr-CA" dirty="0" err="1"/>
              <a:t>controlled</a:t>
            </a:r>
            <a:r>
              <a:rPr lang="fr-CA" dirty="0"/>
              <a:t> and </a:t>
            </a:r>
            <a:r>
              <a:rPr lang="fr-CA" dirty="0" err="1"/>
              <a:t>safe</a:t>
            </a:r>
            <a:r>
              <a:rPr lang="fr-CA" dirty="0"/>
              <a:t> and </a:t>
            </a:r>
            <a:r>
              <a:rPr lang="fr-CA" dirty="0" err="1"/>
              <a:t>we</a:t>
            </a:r>
            <a:r>
              <a:rPr lang="fr-CA" dirty="0"/>
              <a:t> </a:t>
            </a:r>
            <a:r>
              <a:rPr lang="fr-CA" dirty="0" err="1"/>
              <a:t>see</a:t>
            </a:r>
            <a:r>
              <a:rPr lang="fr-CA" dirty="0"/>
              <a:t> </a:t>
            </a:r>
            <a:r>
              <a:rPr lang="fr-CA" dirty="0" err="1"/>
              <a:t>clear</a:t>
            </a:r>
            <a:r>
              <a:rPr lang="fr-CA" dirty="0"/>
              <a:t> </a:t>
            </a:r>
            <a:r>
              <a:rPr lang="fr-CA" dirty="0" err="1"/>
              <a:t>signs</a:t>
            </a:r>
            <a:r>
              <a:rPr lang="fr-CA" dirty="0"/>
              <a:t> of </a:t>
            </a:r>
            <a:r>
              <a:rPr lang="fr-CA" dirty="0" err="1"/>
              <a:t>deceptive</a:t>
            </a:r>
            <a:r>
              <a:rPr lang="fr-CA" dirty="0"/>
              <a:t> </a:t>
            </a:r>
            <a:r>
              <a:rPr lang="fr-CA" dirty="0" err="1"/>
              <a:t>behavior</a:t>
            </a:r>
            <a:r>
              <a:rPr lang="fr-CA" dirty="0"/>
              <a:t> in </a:t>
            </a:r>
            <a:r>
              <a:rPr lang="fr-CA" dirty="0" err="1"/>
              <a:t>current</a:t>
            </a:r>
            <a:r>
              <a:rPr lang="fr-CA" dirty="0"/>
              <a:t> Frontier </a:t>
            </a:r>
            <a:r>
              <a:rPr lang="fr-CA" dirty="0" err="1"/>
              <a:t>AIs</a:t>
            </a:r>
            <a:r>
              <a:rPr lang="fr-CA" dirty="0"/>
              <a:t>. </a:t>
            </a:r>
            <a:r>
              <a:rPr lang="fr-CA" dirty="0" err="1"/>
              <a:t>Another</a:t>
            </a:r>
            <a:r>
              <a:rPr lang="fr-CA" dirty="0"/>
              <a:t> danger lies </a:t>
            </a:r>
            <a:r>
              <a:rPr lang="fr-CA" dirty="0" err="1"/>
              <a:t>with</a:t>
            </a:r>
            <a:r>
              <a:rPr lang="fr-CA" dirty="0"/>
              <a:t> plans to use </a:t>
            </a:r>
            <a:r>
              <a:rPr lang="fr-CA" dirty="0" err="1"/>
              <a:t>potentially</a:t>
            </a:r>
            <a:r>
              <a:rPr lang="fr-CA" dirty="0"/>
              <a:t> </a:t>
            </a:r>
            <a:r>
              <a:rPr lang="fr-CA" dirty="0" err="1"/>
              <a:t>unreliable</a:t>
            </a:r>
            <a:r>
              <a:rPr lang="fr-CA" dirty="0"/>
              <a:t> and </a:t>
            </a:r>
            <a:r>
              <a:rPr lang="fr-CA" dirty="0" err="1"/>
              <a:t>scheming</a:t>
            </a:r>
            <a:r>
              <a:rPr lang="fr-CA" dirty="0"/>
              <a:t> </a:t>
            </a:r>
            <a:r>
              <a:rPr lang="fr-CA" dirty="0" err="1"/>
              <a:t>agentic</a:t>
            </a:r>
            <a:r>
              <a:rPr lang="fr-CA" dirty="0"/>
              <a:t> </a:t>
            </a:r>
            <a:r>
              <a:rPr lang="fr-CA" dirty="0" err="1"/>
              <a:t>AIs</a:t>
            </a:r>
            <a:r>
              <a:rPr lang="fr-CA" dirty="0"/>
              <a:t> to help us design future </a:t>
            </a:r>
            <a:r>
              <a:rPr lang="fr-CA" dirty="0" err="1"/>
              <a:t>AIs</a:t>
            </a:r>
            <a:r>
              <a:rPr lang="fr-CA" dirty="0"/>
              <a:t>. </a:t>
            </a:r>
            <a:r>
              <a:rPr lang="fr-CA" dirty="0" err="1"/>
              <a:t>Instead</a:t>
            </a:r>
            <a:r>
              <a:rPr lang="fr-CA" dirty="0"/>
              <a:t>, </a:t>
            </a:r>
            <a:r>
              <a:rPr lang="fr-CA" dirty="0" err="1"/>
              <a:t>it</a:t>
            </a:r>
            <a:r>
              <a:rPr lang="fr-CA" dirty="0"/>
              <a:t> </a:t>
            </a:r>
            <a:r>
              <a:rPr lang="fr-CA" dirty="0" err="1"/>
              <a:t>is</a:t>
            </a:r>
            <a:r>
              <a:rPr lang="fr-CA" dirty="0"/>
              <a:t> </a:t>
            </a:r>
            <a:r>
              <a:rPr lang="fr-CA" dirty="0" err="1"/>
              <a:t>worthwhile</a:t>
            </a:r>
            <a:r>
              <a:rPr lang="fr-CA" dirty="0"/>
              <a:t> to </a:t>
            </a:r>
            <a:r>
              <a:rPr lang="fr-CA" dirty="0" err="1"/>
              <a:t>ask</a:t>
            </a:r>
            <a:r>
              <a:rPr lang="fr-CA" dirty="0"/>
              <a:t> if and how </a:t>
            </a:r>
            <a:r>
              <a:rPr lang="fr-CA" dirty="0" err="1"/>
              <a:t>we</a:t>
            </a:r>
            <a:r>
              <a:rPr lang="fr-CA" dirty="0"/>
              <a:t> </a:t>
            </a:r>
            <a:r>
              <a:rPr lang="fr-CA" dirty="0" err="1"/>
              <a:t>could</a:t>
            </a:r>
            <a:r>
              <a:rPr lang="fr-CA" dirty="0"/>
              <a:t> </a:t>
            </a:r>
            <a:r>
              <a:rPr lang="fr-CA" dirty="0" err="1"/>
              <a:t>build</a:t>
            </a:r>
            <a:r>
              <a:rPr lang="fr-CA" dirty="0"/>
              <a:t> non-</a:t>
            </a:r>
            <a:r>
              <a:rPr lang="fr-CA" dirty="0" err="1"/>
              <a:t>agentic</a:t>
            </a:r>
            <a:r>
              <a:rPr lang="fr-CA" dirty="0"/>
              <a:t> </a:t>
            </a:r>
            <a:r>
              <a:rPr lang="fr-CA" dirty="0" err="1"/>
              <a:t>AIs</a:t>
            </a:r>
            <a:r>
              <a:rPr lang="fr-CA" dirty="0"/>
              <a:t>, </a:t>
            </a:r>
            <a:r>
              <a:rPr lang="fr-CA" dirty="0" err="1"/>
              <a:t>even</a:t>
            </a:r>
            <a:r>
              <a:rPr lang="fr-CA" dirty="0"/>
              <a:t> </a:t>
            </a:r>
            <a:r>
              <a:rPr lang="fr-CA" dirty="0" err="1"/>
              <a:t>ones</a:t>
            </a:r>
            <a:r>
              <a:rPr lang="fr-CA" dirty="0"/>
              <a:t> </a:t>
            </a:r>
            <a:r>
              <a:rPr lang="fr-CA" dirty="0" err="1"/>
              <a:t>with</a:t>
            </a:r>
            <a:r>
              <a:rPr lang="fr-CA" dirty="0"/>
              <a:t> </a:t>
            </a:r>
            <a:r>
              <a:rPr lang="fr-CA" dirty="0" err="1"/>
              <a:t>broad</a:t>
            </a:r>
            <a:r>
              <a:rPr lang="fr-CA" dirty="0"/>
              <a:t> </a:t>
            </a:r>
            <a:r>
              <a:rPr lang="fr-CA" dirty="0" err="1"/>
              <a:t>knowledge</a:t>
            </a:r>
            <a:r>
              <a:rPr lang="fr-CA" dirty="0"/>
              <a:t>, but </a:t>
            </a:r>
            <a:r>
              <a:rPr lang="fr-CA" dirty="0" err="1"/>
              <a:t>with</a:t>
            </a:r>
            <a:r>
              <a:rPr lang="fr-CA" dirty="0"/>
              <a:t> no self, no persistent state, no </a:t>
            </a:r>
            <a:r>
              <a:rPr lang="fr-CA" dirty="0" err="1"/>
              <a:t>situational</a:t>
            </a:r>
            <a:r>
              <a:rPr lang="fr-CA" dirty="0"/>
              <a:t> </a:t>
            </a:r>
            <a:r>
              <a:rPr lang="fr-CA" dirty="0" err="1"/>
              <a:t>awareness</a:t>
            </a:r>
            <a:r>
              <a:rPr lang="fr-CA" dirty="0"/>
              <a:t>, and no goal or </a:t>
            </a:r>
            <a:r>
              <a:rPr lang="fr-CA" dirty="0" err="1"/>
              <a:t>reward</a:t>
            </a:r>
            <a:r>
              <a:rPr lang="fr-CA" dirty="0"/>
              <a:t> </a:t>
            </a:r>
            <a:r>
              <a:rPr lang="fr-CA" dirty="0" err="1"/>
              <a:t>function</a:t>
            </a:r>
            <a:r>
              <a:rPr lang="fr-CA" dirty="0"/>
              <a:t> of </a:t>
            </a:r>
            <a:r>
              <a:rPr lang="fr-CA" dirty="0" err="1"/>
              <a:t>their</a:t>
            </a:r>
            <a:r>
              <a:rPr lang="fr-CA" dirty="0"/>
              <a:t> </a:t>
            </a:r>
            <a:r>
              <a:rPr lang="fr-CA" dirty="0" err="1"/>
              <a:t>own</a:t>
            </a:r>
            <a:r>
              <a:rPr lang="fr-CA" dirty="0"/>
              <a:t>. </a:t>
            </a:r>
            <a:r>
              <a:rPr lang="fr-CA" dirty="0" err="1"/>
              <a:t>We</a:t>
            </a:r>
            <a:r>
              <a:rPr lang="fr-CA" dirty="0"/>
              <a:t> </a:t>
            </a:r>
            <a:r>
              <a:rPr lang="fr-CA" dirty="0" err="1"/>
              <a:t>could</a:t>
            </a:r>
            <a:r>
              <a:rPr lang="fr-CA" dirty="0"/>
              <a:t> </a:t>
            </a:r>
            <a:r>
              <a:rPr lang="fr-CA" dirty="0" err="1"/>
              <a:t>still</a:t>
            </a:r>
            <a:r>
              <a:rPr lang="fr-CA" dirty="0"/>
              <a:t> do </a:t>
            </a:r>
            <a:r>
              <a:rPr lang="fr-CA" dirty="0" err="1"/>
              <a:t>what</a:t>
            </a:r>
            <a:r>
              <a:rPr lang="fr-CA" dirty="0"/>
              <a:t> </a:t>
            </a:r>
            <a:r>
              <a:rPr lang="fr-CA" dirty="0" err="1"/>
              <a:t>most</a:t>
            </a:r>
            <a:r>
              <a:rPr lang="fr-CA" dirty="0"/>
              <a:t> </a:t>
            </a:r>
            <a:r>
              <a:rPr lang="fr-CA" dirty="0" err="1"/>
              <a:t>humans</a:t>
            </a:r>
            <a:r>
              <a:rPr lang="fr-CA" dirty="0"/>
              <a:t> </a:t>
            </a:r>
            <a:r>
              <a:rPr lang="fr-CA" dirty="0" err="1"/>
              <a:t>want</a:t>
            </a:r>
            <a:r>
              <a:rPr lang="fr-CA" dirty="0"/>
              <a:t>, i.e., </a:t>
            </a:r>
            <a:r>
              <a:rPr lang="fr-CA" dirty="0" err="1"/>
              <a:t>massively</a:t>
            </a:r>
            <a:r>
              <a:rPr lang="fr-CA" dirty="0"/>
              <a:t> </a:t>
            </a:r>
            <a:r>
              <a:rPr lang="fr-CA" dirty="0" err="1"/>
              <a:t>accelerate</a:t>
            </a:r>
            <a:r>
              <a:rPr lang="fr-CA" dirty="0"/>
              <a:t> </a:t>
            </a:r>
            <a:r>
              <a:rPr lang="fr-CA" dirty="0" err="1"/>
              <a:t>scientific</a:t>
            </a:r>
            <a:r>
              <a:rPr lang="fr-CA" dirty="0"/>
              <a:t> </a:t>
            </a:r>
            <a:r>
              <a:rPr lang="fr-CA" dirty="0" err="1"/>
              <a:t>advances</a:t>
            </a:r>
            <a:r>
              <a:rPr lang="fr-CA" dirty="0"/>
              <a:t> (e.g., in </a:t>
            </a:r>
            <a:r>
              <a:rPr lang="fr-CA" dirty="0" err="1"/>
              <a:t>medicine</a:t>
            </a:r>
            <a:r>
              <a:rPr lang="fr-CA" dirty="0"/>
              <a:t> or </a:t>
            </a:r>
            <a:r>
              <a:rPr lang="fr-CA" dirty="0" err="1"/>
              <a:t>climate</a:t>
            </a:r>
            <a:r>
              <a:rPr lang="fr-CA" dirty="0"/>
              <a:t>), </a:t>
            </a:r>
            <a:r>
              <a:rPr lang="fr-CA" dirty="0" err="1"/>
              <a:t>without</a:t>
            </a:r>
            <a:r>
              <a:rPr lang="fr-CA" dirty="0"/>
              <a:t> the </a:t>
            </a:r>
            <a:r>
              <a:rPr lang="fr-CA" dirty="0" err="1"/>
              <a:t>above</a:t>
            </a:r>
            <a:r>
              <a:rPr lang="fr-CA" dirty="0"/>
              <a:t> </a:t>
            </a:r>
            <a:r>
              <a:rPr lang="fr-CA" dirty="0" err="1"/>
              <a:t>catastrophic</a:t>
            </a:r>
            <a:r>
              <a:rPr lang="fr-CA" dirty="0"/>
              <a:t> </a:t>
            </a:r>
            <a:r>
              <a:rPr lang="fr-CA" dirty="0" err="1"/>
              <a:t>risks</a:t>
            </a:r>
            <a:r>
              <a:rPr lang="fr-CA" dirty="0"/>
              <a:t>. This talk </a:t>
            </a:r>
            <a:r>
              <a:rPr lang="fr-CA" dirty="0" err="1"/>
              <a:t>will</a:t>
            </a:r>
            <a:r>
              <a:rPr lang="fr-CA" dirty="0"/>
              <a:t> </a:t>
            </a:r>
            <a:r>
              <a:rPr lang="fr-CA" dirty="0" err="1"/>
              <a:t>outline</a:t>
            </a:r>
            <a:r>
              <a:rPr lang="fr-CA" dirty="0"/>
              <a:t> a </a:t>
            </a:r>
            <a:r>
              <a:rPr lang="fr-CA" dirty="0" err="1"/>
              <a:t>research</a:t>
            </a:r>
            <a:r>
              <a:rPr lang="fr-CA" dirty="0"/>
              <a:t> plan for </a:t>
            </a:r>
            <a:r>
              <a:rPr lang="fr-CA" dirty="0" err="1"/>
              <a:t>doing</a:t>
            </a:r>
            <a:r>
              <a:rPr lang="fr-CA" dirty="0"/>
              <a:t> </a:t>
            </a:r>
            <a:r>
              <a:rPr lang="fr-CA" dirty="0" err="1"/>
              <a:t>so</a:t>
            </a:r>
            <a:r>
              <a:rPr lang="fr-CA" dirty="0"/>
              <a:t>, </a:t>
            </a:r>
            <a:r>
              <a:rPr lang="fr-CA" dirty="0" err="1"/>
              <a:t>which</a:t>
            </a:r>
            <a:r>
              <a:rPr lang="fr-CA" dirty="0"/>
              <a:t> </a:t>
            </a:r>
            <a:r>
              <a:rPr lang="fr-CA" dirty="0" err="1"/>
              <a:t>could</a:t>
            </a:r>
            <a:r>
              <a:rPr lang="fr-CA" dirty="0"/>
              <a:t> </a:t>
            </a:r>
            <a:r>
              <a:rPr lang="fr-CA" dirty="0" err="1"/>
              <a:t>avoid</a:t>
            </a:r>
            <a:r>
              <a:rPr lang="fr-CA" dirty="0"/>
              <a:t> the </a:t>
            </a:r>
            <a:r>
              <a:rPr lang="fr-CA" dirty="0" err="1"/>
              <a:t>pitfall</a:t>
            </a:r>
            <a:r>
              <a:rPr lang="fr-CA" dirty="0"/>
              <a:t> of </a:t>
            </a:r>
            <a:r>
              <a:rPr lang="fr-CA" dirty="0" err="1"/>
              <a:t>imitating</a:t>
            </a:r>
            <a:r>
              <a:rPr lang="fr-CA" dirty="0"/>
              <a:t> </a:t>
            </a:r>
            <a:r>
              <a:rPr lang="fr-CA" dirty="0" err="1"/>
              <a:t>humans</a:t>
            </a:r>
            <a:r>
              <a:rPr lang="fr-CA" dirty="0"/>
              <a:t> (as </a:t>
            </a:r>
            <a:r>
              <a:rPr lang="fr-CA" dirty="0" err="1"/>
              <a:t>with</a:t>
            </a:r>
            <a:r>
              <a:rPr lang="fr-CA" dirty="0"/>
              <a:t> LLM </a:t>
            </a:r>
            <a:r>
              <a:rPr lang="fr-CA" dirty="0" err="1"/>
              <a:t>pre</a:t>
            </a:r>
            <a:r>
              <a:rPr lang="fr-CA" dirty="0"/>
              <a:t>-training) by </a:t>
            </a:r>
            <a:r>
              <a:rPr lang="fr-CA" dirty="0" err="1"/>
              <a:t>instead</a:t>
            </a:r>
            <a:r>
              <a:rPr lang="fr-CA" dirty="0"/>
              <a:t> </a:t>
            </a:r>
            <a:r>
              <a:rPr lang="fr-CA" dirty="0" err="1"/>
              <a:t>learning</a:t>
            </a:r>
            <a:r>
              <a:rPr lang="fr-CA" dirty="0"/>
              <a:t> how to </a:t>
            </a:r>
            <a:r>
              <a:rPr lang="fr-CA" dirty="0" err="1"/>
              <a:t>probabilistically</a:t>
            </a:r>
            <a:r>
              <a:rPr lang="fr-CA" dirty="0"/>
              <a:t> </a:t>
            </a:r>
            <a:r>
              <a:rPr lang="fr-CA" dirty="0" err="1"/>
              <a:t>explain</a:t>
            </a:r>
            <a:r>
              <a:rPr lang="fr-CA" dirty="0"/>
              <a:t> data </a:t>
            </a:r>
            <a:r>
              <a:rPr lang="fr-CA" dirty="0" err="1"/>
              <a:t>with</a:t>
            </a:r>
            <a:r>
              <a:rPr lang="fr-CA" dirty="0"/>
              <a:t> </a:t>
            </a:r>
            <a:r>
              <a:rPr lang="fr-CA" dirty="0" err="1"/>
              <a:t>interpretable</a:t>
            </a:r>
            <a:r>
              <a:rPr lang="fr-CA" dirty="0"/>
              <a:t> latent causes, </a:t>
            </a:r>
            <a:r>
              <a:rPr lang="fr-CA" dirty="0" err="1"/>
              <a:t>so</a:t>
            </a:r>
            <a:r>
              <a:rPr lang="fr-CA" dirty="0"/>
              <a:t> </a:t>
            </a:r>
            <a:r>
              <a:rPr lang="fr-CA" dirty="0" err="1"/>
              <a:t>that</a:t>
            </a:r>
            <a:r>
              <a:rPr lang="fr-CA" dirty="0"/>
              <a:t> </a:t>
            </a:r>
            <a:r>
              <a:rPr lang="fr-CA" dirty="0" err="1"/>
              <a:t>we</a:t>
            </a:r>
            <a:r>
              <a:rPr lang="fr-CA" dirty="0"/>
              <a:t> can </a:t>
            </a:r>
            <a:r>
              <a:rPr lang="fr-CA" dirty="0" err="1"/>
              <a:t>also</a:t>
            </a:r>
            <a:r>
              <a:rPr lang="fr-CA" dirty="0"/>
              <a:t> </a:t>
            </a:r>
            <a:r>
              <a:rPr lang="fr-CA" dirty="0" err="1"/>
              <a:t>query</a:t>
            </a:r>
            <a:r>
              <a:rPr lang="fr-CA" dirty="0"/>
              <a:t> the </a:t>
            </a:r>
            <a:r>
              <a:rPr lang="fr-CA" dirty="0" err="1"/>
              <a:t>probability</a:t>
            </a:r>
            <a:r>
              <a:rPr lang="fr-CA" dirty="0"/>
              <a:t> of </a:t>
            </a:r>
            <a:r>
              <a:rPr lang="fr-CA" dirty="0" err="1"/>
              <a:t>such</a:t>
            </a:r>
            <a:r>
              <a:rPr lang="fr-CA" dirty="0"/>
              <a:t> latent </a:t>
            </a:r>
            <a:r>
              <a:rPr lang="fr-CA" dirty="0" err="1"/>
              <a:t>events</a:t>
            </a:r>
            <a:r>
              <a:rPr lang="fr-CA" dirty="0"/>
              <a:t>. </a:t>
            </a:r>
            <a:r>
              <a:rPr lang="fr-CA" dirty="0" err="1"/>
              <a:t>Such</a:t>
            </a:r>
            <a:r>
              <a:rPr lang="fr-CA" dirty="0"/>
              <a:t> non-</a:t>
            </a:r>
            <a:r>
              <a:rPr lang="fr-CA" dirty="0" err="1"/>
              <a:t>agentic</a:t>
            </a:r>
            <a:r>
              <a:rPr lang="fr-CA" dirty="0"/>
              <a:t> </a:t>
            </a:r>
            <a:r>
              <a:rPr lang="fr-CA" dirty="0" err="1"/>
              <a:t>AIs</a:t>
            </a:r>
            <a:r>
              <a:rPr lang="fr-CA" dirty="0"/>
              <a:t> </a:t>
            </a:r>
            <a:r>
              <a:rPr lang="fr-CA" dirty="0" err="1"/>
              <a:t>could</a:t>
            </a:r>
            <a:r>
              <a:rPr lang="fr-CA" dirty="0"/>
              <a:t> fuel </a:t>
            </a:r>
            <a:r>
              <a:rPr lang="fr-CA" dirty="0" err="1"/>
              <a:t>scientific</a:t>
            </a:r>
            <a:r>
              <a:rPr lang="fr-CA" dirty="0"/>
              <a:t> </a:t>
            </a:r>
            <a:r>
              <a:rPr lang="fr-CA" dirty="0" err="1"/>
              <a:t>discovery</a:t>
            </a:r>
            <a:r>
              <a:rPr lang="fr-CA" dirty="0"/>
              <a:t> over the </a:t>
            </a:r>
            <a:r>
              <a:rPr lang="fr-CA" dirty="0" err="1"/>
              <a:t>whole</a:t>
            </a:r>
            <a:r>
              <a:rPr lang="fr-CA" dirty="0"/>
              <a:t> cycle of </a:t>
            </a:r>
            <a:r>
              <a:rPr lang="fr-CA" dirty="0" err="1"/>
              <a:t>hypothesis</a:t>
            </a:r>
            <a:r>
              <a:rPr lang="fr-CA" dirty="0"/>
              <a:t> </a:t>
            </a:r>
            <a:r>
              <a:rPr lang="fr-CA" dirty="0" err="1"/>
              <a:t>generation</a:t>
            </a:r>
            <a:r>
              <a:rPr lang="fr-CA" dirty="0"/>
              <a:t> and </a:t>
            </a:r>
            <a:r>
              <a:rPr lang="fr-CA" dirty="0" err="1"/>
              <a:t>experimental</a:t>
            </a:r>
            <a:r>
              <a:rPr lang="fr-CA" dirty="0"/>
              <a:t> design and </a:t>
            </a:r>
            <a:r>
              <a:rPr lang="fr-CA" dirty="0" err="1"/>
              <a:t>be</a:t>
            </a:r>
            <a:r>
              <a:rPr lang="fr-CA" dirty="0"/>
              <a:t> </a:t>
            </a:r>
            <a:r>
              <a:rPr lang="fr-CA" dirty="0" err="1"/>
              <a:t>used</a:t>
            </a:r>
            <a:r>
              <a:rPr lang="fr-CA" dirty="0"/>
              <a:t> as </a:t>
            </a:r>
            <a:r>
              <a:rPr lang="fr-CA" dirty="0" err="1"/>
              <a:t>powerful</a:t>
            </a:r>
            <a:r>
              <a:rPr lang="fr-CA" dirty="0"/>
              <a:t> but </a:t>
            </a:r>
            <a:r>
              <a:rPr lang="fr-CA" dirty="0" err="1"/>
              <a:t>trustworthy</a:t>
            </a:r>
            <a:r>
              <a:rPr lang="fr-CA" dirty="0"/>
              <a:t> </a:t>
            </a:r>
            <a:r>
              <a:rPr lang="fr-CA" dirty="0" err="1"/>
              <a:t>guardrails</a:t>
            </a:r>
            <a:r>
              <a:rPr lang="fr-CA" dirty="0"/>
              <a:t> on top of </a:t>
            </a:r>
            <a:r>
              <a:rPr lang="fr-CA" dirty="0" err="1"/>
              <a:t>agentic</a:t>
            </a:r>
            <a:r>
              <a:rPr lang="fr-CA" dirty="0"/>
              <a:t> </a:t>
            </a:r>
            <a:r>
              <a:rPr lang="fr-CA" dirty="0" err="1"/>
              <a:t>AIs</a:t>
            </a:r>
            <a:r>
              <a:rPr lang="fr-CA" dirty="0"/>
              <a:t>. </a:t>
            </a:r>
            <a:r>
              <a:rPr lang="fr-CA" dirty="0" err="1"/>
              <a:t>Finally</a:t>
            </a:r>
            <a:r>
              <a:rPr lang="fr-CA" dirty="0"/>
              <a:t>, </a:t>
            </a:r>
            <a:r>
              <a:rPr lang="fr-CA" dirty="0" err="1"/>
              <a:t>they</a:t>
            </a:r>
            <a:r>
              <a:rPr lang="fr-CA" dirty="0"/>
              <a:t> </a:t>
            </a:r>
            <a:r>
              <a:rPr lang="fr-CA" dirty="0" err="1"/>
              <a:t>could</a:t>
            </a:r>
            <a:r>
              <a:rPr lang="fr-CA" dirty="0"/>
              <a:t> </a:t>
            </a:r>
            <a:r>
              <a:rPr lang="fr-CA" dirty="0" err="1"/>
              <a:t>eventually</a:t>
            </a:r>
            <a:r>
              <a:rPr lang="fr-CA" dirty="0"/>
              <a:t> </a:t>
            </a:r>
            <a:r>
              <a:rPr lang="fr-CA" dirty="0" err="1"/>
              <a:t>be</a:t>
            </a:r>
            <a:r>
              <a:rPr lang="fr-CA" dirty="0"/>
              <a:t> </a:t>
            </a:r>
            <a:r>
              <a:rPr lang="fr-CA" dirty="0" err="1"/>
              <a:t>used</a:t>
            </a:r>
            <a:r>
              <a:rPr lang="fr-CA" dirty="0"/>
              <a:t> to help us </a:t>
            </a:r>
            <a:r>
              <a:rPr lang="fr-CA" dirty="0" err="1"/>
              <a:t>answer</a:t>
            </a:r>
            <a:r>
              <a:rPr lang="fr-CA" dirty="0"/>
              <a:t> the question of how to design </a:t>
            </a:r>
            <a:r>
              <a:rPr lang="fr-CA" dirty="0" err="1"/>
              <a:t>guaranteed</a:t>
            </a:r>
            <a:r>
              <a:rPr lang="fr-CA" dirty="0"/>
              <a:t> </a:t>
            </a:r>
            <a:r>
              <a:rPr lang="fr-CA" dirty="0" err="1"/>
              <a:t>safe</a:t>
            </a:r>
            <a:r>
              <a:rPr lang="fr-CA" dirty="0"/>
              <a:t> AGI agents, if </a:t>
            </a:r>
            <a:r>
              <a:rPr lang="fr-CA" dirty="0" err="1"/>
              <a:t>it</a:t>
            </a:r>
            <a:r>
              <a:rPr lang="fr-CA" dirty="0"/>
              <a:t> </a:t>
            </a:r>
            <a:r>
              <a:rPr lang="fr-CA" dirty="0" err="1"/>
              <a:t>is</a:t>
            </a:r>
            <a:r>
              <a:rPr lang="fr-CA" dirty="0"/>
              <a:t> at all possible.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69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9975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Include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baseline="0" dirty="0"/>
              <a:t> a </a:t>
            </a:r>
            <a:r>
              <a:rPr lang="fr-FR" baseline="0" dirty="0" err="1"/>
              <a:t>list</a:t>
            </a:r>
            <a:r>
              <a:rPr lang="fr-FR" baseline="0" dirty="0"/>
              <a:t> at the </a:t>
            </a:r>
            <a:r>
              <a:rPr lang="fr-FR" baseline="0" dirty="0" err="1"/>
              <a:t>beginning</a:t>
            </a:r>
            <a:r>
              <a:rPr lang="fr-FR" baseline="0" dirty="0"/>
              <a:t> and as </a:t>
            </a:r>
            <a:r>
              <a:rPr lang="fr-FR" baseline="0" dirty="0" err="1"/>
              <a:t>reminder</a:t>
            </a:r>
            <a:r>
              <a:rPr lang="fr-FR" baseline="0" dirty="0"/>
              <a:t> </a:t>
            </a:r>
            <a:r>
              <a:rPr lang="fr-FR" baseline="0" dirty="0" err="1"/>
              <a:t>along</a:t>
            </a:r>
            <a:r>
              <a:rPr lang="fr-FR" baseline="0" dirty="0"/>
              <a:t> the </a:t>
            </a:r>
            <a:r>
              <a:rPr lang="fr-FR" baseline="0" dirty="0" err="1"/>
              <a:t>way</a:t>
            </a:r>
            <a:r>
              <a:rPr lang="fr-FR" baseline="0" dirty="0"/>
              <a:t>, roadmap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0582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361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g2c45b5cc616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2" name="Google Shape;2982;g2c45b5cc616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Google Shape;3050;g2c45b5cc616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1" name="Google Shape;3051;g2c45b5cc616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avec mosaïque" type="title">
  <p:cSld name="TITLE">
    <p:bg>
      <p:bgPr>
        <a:solidFill>
          <a:schemeClr val="dk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>
            <a:spLocks noGrp="1"/>
          </p:cNvSpPr>
          <p:nvPr>
            <p:ph type="ctrTitle"/>
          </p:nvPr>
        </p:nvSpPr>
        <p:spPr>
          <a:xfrm>
            <a:off x="4230450" y="928800"/>
            <a:ext cx="4528800" cy="25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ubTitle" idx="1"/>
          </p:nvPr>
        </p:nvSpPr>
        <p:spPr>
          <a:xfrm>
            <a:off x="4230450" y="3637225"/>
            <a:ext cx="45288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pSp>
        <p:nvGrpSpPr>
          <p:cNvPr id="59" name="Google Shape;59;p25"/>
          <p:cNvGrpSpPr/>
          <p:nvPr/>
        </p:nvGrpSpPr>
        <p:grpSpPr>
          <a:xfrm>
            <a:off x="4334395" y="385128"/>
            <a:ext cx="1223860" cy="361943"/>
            <a:chOff x="249750" y="1780450"/>
            <a:chExt cx="7107200" cy="2090950"/>
          </a:xfrm>
        </p:grpSpPr>
        <p:sp>
          <p:nvSpPr>
            <p:cNvPr id="60" name="Google Shape;60;p25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" name="Google Shape;61;p25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" name="Google Shape;62;p25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3" name="Google Shape;63;p25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4" name="Google Shape;64;p25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5" name="Google Shape;65;p25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" name="Google Shape;66;p25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" name="Google Shape;67;p25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" name="Google Shape;68;p25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" name="Google Shape;69;p25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" name="Google Shape;70;p25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" name="Google Shape;71;p25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2" name="Google Shape;72;p25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" name="Google Shape;73;p25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" name="Google Shape;74;p25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" name="Google Shape;75;p25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" name="Google Shape;76;p25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7" name="Google Shape;77;p25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" name="Google Shape;78;p25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" name="Google Shape;79;p25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" name="Google Shape;80;p25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" name="Google Shape;81;p25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" name="Google Shape;82;p25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" name="Google Shape;83;p25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" name="Google Shape;84;p25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" name="Google Shape;85;p25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" name="Google Shape;86;p25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" name="Google Shape;87;p25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8" name="Google Shape;88;p25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9" name="Google Shape;89;p25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" name="Google Shape;90;p25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" name="Google Shape;91;p25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" name="Google Shape;92;p25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" name="Google Shape;93;p25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4" name="Google Shape;94;p25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5" name="Google Shape;95;p25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6" name="Google Shape;96;p25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7" name="Google Shape;97;p25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8" name="Google Shape;98;p25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9" name="Google Shape;99;p25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0" name="Google Shape;100;p25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1" name="Google Shape;101;p25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2" name="Google Shape;102;p25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3" name="Google Shape;103;p25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4" name="Google Shape;104;p25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05" name="Google Shape;105;p25"/>
          <p:cNvSpPr>
            <a:spLocks noGrp="1"/>
          </p:cNvSpPr>
          <p:nvPr>
            <p:ph type="pic" idx="2"/>
          </p:nvPr>
        </p:nvSpPr>
        <p:spPr>
          <a:xfrm>
            <a:off x="606600" y="928800"/>
            <a:ext cx="3143400" cy="350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06" name="Google Shape;106;p25"/>
          <p:cNvCxnSpPr/>
          <p:nvPr/>
        </p:nvCxnSpPr>
        <p:spPr>
          <a:xfrm>
            <a:off x="4326350" y="928800"/>
            <a:ext cx="4341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65">
          <p15:clr>
            <a:srgbClr val="E46962"/>
          </p15:clr>
        </p15:guide>
        <p15:guide id="2" pos="5518">
          <p15:clr>
            <a:srgbClr val="E46962"/>
          </p15:clr>
        </p15:guide>
        <p15:guide id="3" orient="horz" pos="2291">
          <p15:clr>
            <a:srgbClr val="E46962"/>
          </p15:clr>
        </p15:guide>
        <p15:guide id="4" orient="horz" pos="2220">
          <p15:clr>
            <a:srgbClr val="E46962"/>
          </p15:clr>
        </p15:guide>
        <p15:guide id="5" orient="horz" pos="585">
          <p15:clr>
            <a:srgbClr val="E46962"/>
          </p15:clr>
        </p15:guide>
        <p15:guide id="6" orient="horz" pos="279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sur 1 colonne" type="tx">
  <p:cSld name="TITLE_AND_BODY">
    <p:bg>
      <p:bgPr>
        <a:solidFill>
          <a:srgbClr val="F4F5F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body" idx="1"/>
          </p:nvPr>
        </p:nvSpPr>
        <p:spPr>
          <a:xfrm>
            <a:off x="864000" y="1501200"/>
            <a:ext cx="7894800" cy="3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110" name="Google Shape;110;p26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111" name="Google Shape;111;p26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" name="Google Shape;112;p26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pos="5517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et texte 1">
  <p:cSld name="ONE_COLUMN_TEXT_1_3">
    <p:bg>
      <p:bgPr>
        <a:solidFill>
          <a:srgbClr val="CEB3D3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>
            <a:spLocks noGrp="1"/>
          </p:cNvSpPr>
          <p:nvPr>
            <p:ph type="pic" idx="2"/>
          </p:nvPr>
        </p:nvSpPr>
        <p:spPr>
          <a:xfrm>
            <a:off x="1249200" y="1198800"/>
            <a:ext cx="1850400" cy="2934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15" name="Google Shape;115;p27"/>
          <p:cNvSpPr/>
          <p:nvPr/>
        </p:nvSpPr>
        <p:spPr>
          <a:xfrm>
            <a:off x="3884400" y="0"/>
            <a:ext cx="52596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29961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4230000" y="1501225"/>
            <a:ext cx="452160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119" name="Google Shape;119;p27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" name="Google Shape;120;p27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1" name="Google Shape;121;p27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122" name="Google Shape;122;p27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67" name="Google Shape;167;p27"/>
          <p:cNvSpPr txBox="1">
            <a:spLocks noGrp="1"/>
          </p:cNvSpPr>
          <p:nvPr>
            <p:ph type="subTitle" idx="3"/>
          </p:nvPr>
        </p:nvSpPr>
        <p:spPr>
          <a:xfrm>
            <a:off x="4230000" y="218425"/>
            <a:ext cx="4521600" cy="1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946">
          <p15:clr>
            <a:srgbClr val="E46962"/>
          </p15:clr>
        </p15:guide>
        <p15:guide id="4" pos="2665">
          <p15:clr>
            <a:srgbClr val="E46962"/>
          </p15:clr>
        </p15:guide>
        <p15:guide id="5" pos="551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solidFill>
          <a:srgbClr val="A9DAE9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/>
          </p:nvPr>
        </p:nvSpPr>
        <p:spPr>
          <a:xfrm>
            <a:off x="864000" y="826325"/>
            <a:ext cx="44736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Work Sans Medium"/>
              <a:buNone/>
              <a:defRPr sz="33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9" name="Google Shape;179;p40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0" name="Google Shape;180;p40"/>
          <p:cNvSpPr txBox="1">
            <a:spLocks noGrp="1"/>
          </p:cNvSpPr>
          <p:nvPr>
            <p:ph type="subTitle" idx="1"/>
          </p:nvPr>
        </p:nvSpPr>
        <p:spPr>
          <a:xfrm>
            <a:off x="864000" y="2755025"/>
            <a:ext cx="44736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1" name="Google Shape;181;p40"/>
          <p:cNvSpPr>
            <a:spLocks noGrp="1"/>
          </p:cNvSpPr>
          <p:nvPr>
            <p:ph type="pic" idx="2"/>
          </p:nvPr>
        </p:nvSpPr>
        <p:spPr>
          <a:xfrm>
            <a:off x="5579650" y="1102900"/>
            <a:ext cx="2847300" cy="2942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82" name="Google Shape;182;p40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735">
          <p15:clr>
            <a:srgbClr val="E46962"/>
          </p15:clr>
        </p15:guide>
        <p15:guide id="3" orient="horz" pos="521">
          <p15:clr>
            <a:srgbClr val="E46962"/>
          </p15:clr>
        </p15:guide>
        <p15:guide id="4" pos="3362">
          <p15:clr>
            <a:srgbClr val="E46962"/>
          </p15:clr>
        </p15:guide>
        <p15:guide id="5" orient="horz" pos="11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image 1">
  <p:cSld name="ONE_COLUMN_TEXT">
    <p:bg>
      <p:bgPr>
        <a:solidFill>
          <a:srgbClr val="F4DA92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1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1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6" name="Google Shape;186;p41"/>
          <p:cNvSpPr txBox="1">
            <a:spLocks noGrp="1"/>
          </p:cNvSpPr>
          <p:nvPr>
            <p:ph type="body" idx="1"/>
          </p:nvPr>
        </p:nvSpPr>
        <p:spPr>
          <a:xfrm>
            <a:off x="864000" y="2415275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41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188" name="Google Shape;188;p41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9" name="Google Shape;189;p41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90" name="Google Shape;190;p41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191" name="Google Shape;191;p41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2" name="Google Shape;192;p41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3" name="Google Shape;193;p41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4" name="Google Shape;194;p41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5" name="Google Shape;195;p41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6" name="Google Shape;196;p41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7" name="Google Shape;197;p41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8" name="Google Shape;198;p41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9" name="Google Shape;199;p41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0" name="Google Shape;200;p41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1" name="Google Shape;201;p41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2" name="Google Shape;202;p41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3" name="Google Shape;203;p41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4" name="Google Shape;204;p41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5" name="Google Shape;205;p41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6" name="Google Shape;206;p41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7" name="Google Shape;207;p41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8" name="Google Shape;208;p41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9" name="Google Shape;209;p41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0" name="Google Shape;210;p41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1" name="Google Shape;211;p41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2" name="Google Shape;212;p41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3" name="Google Shape;213;p41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4" name="Google Shape;214;p41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5" name="Google Shape;215;p41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6" name="Google Shape;216;p41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7" name="Google Shape;217;p41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8" name="Google Shape;218;p41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9" name="Google Shape;219;p41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0" name="Google Shape;220;p41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1" name="Google Shape;221;p41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2" name="Google Shape;222;p41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3" name="Google Shape;223;p41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4" name="Google Shape;224;p41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5" name="Google Shape;225;p41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6" name="Google Shape;226;p41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7" name="Google Shape;227;p41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8" name="Google Shape;228;p41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9" name="Google Shape;229;p41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0" name="Google Shape;230;p41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1" name="Google Shape;231;p41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2" name="Google Shape;232;p41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3" name="Google Shape;233;p41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4" name="Google Shape;234;p41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5" name="Google Shape;235;p41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236" name="Google Shape;236;p41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7" name="Google Shape;237;p41"/>
          <p:cNvSpPr>
            <a:spLocks noGrp="1"/>
          </p:cNvSpPr>
          <p:nvPr>
            <p:ph type="pic" idx="3"/>
          </p:nvPr>
        </p:nvSpPr>
        <p:spPr>
          <a:xfrm>
            <a:off x="5579650" y="1102900"/>
            <a:ext cx="2847600" cy="294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521">
          <p15:clr>
            <a:srgbClr val="E46962"/>
          </p15:clr>
        </p15:guide>
        <p15:guide id="4" orient="horz" pos="102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image 2">
  <p:cSld name="ONE_COLUMN_TEXT_1">
    <p:bg>
      <p:bgPr>
        <a:solidFill>
          <a:srgbClr val="B9DBC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2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2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body" idx="1"/>
          </p:nvPr>
        </p:nvSpPr>
        <p:spPr>
          <a:xfrm>
            <a:off x="864000" y="2415300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43" name="Google Shape;243;p42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4" name="Google Shape;244;p42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45" name="Google Shape;245;p42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246" name="Google Shape;246;p42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7" name="Google Shape;247;p42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8" name="Google Shape;248;p42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9" name="Google Shape;249;p42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0" name="Google Shape;250;p42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1" name="Google Shape;251;p42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2" name="Google Shape;252;p42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3" name="Google Shape;253;p42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4" name="Google Shape;254;p42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5" name="Google Shape;255;p42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6" name="Google Shape;256;p42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0" name="Google Shape;260;p42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1" name="Google Shape;261;p42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4" name="Google Shape;264;p42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5" name="Google Shape;265;p42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6" name="Google Shape;266;p42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7" name="Google Shape;267;p42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8" name="Google Shape;268;p42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9" name="Google Shape;269;p42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0" name="Google Shape;270;p42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1" name="Google Shape;271;p42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3" name="Google Shape;273;p42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7" name="Google Shape;277;p42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1" name="Google Shape;281;p42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2" name="Google Shape;282;p42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6" name="Google Shape;286;p42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7" name="Google Shape;287;p42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291" name="Google Shape;291;p42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2" name="Google Shape;292;p42"/>
          <p:cNvSpPr>
            <a:spLocks noGrp="1"/>
          </p:cNvSpPr>
          <p:nvPr>
            <p:ph type="pic" idx="3"/>
          </p:nvPr>
        </p:nvSpPr>
        <p:spPr>
          <a:xfrm>
            <a:off x="5666400" y="468000"/>
            <a:ext cx="2678400" cy="4017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025">
          <p15:clr>
            <a:srgbClr val="E46962"/>
          </p15:clr>
        </p15:guide>
        <p15:guide id="4" orient="horz" pos="152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et texte 2">
  <p:cSld name="ONE_COLUMN_TEXT_1_2">
    <p:bg>
      <p:bgPr>
        <a:solidFill>
          <a:srgbClr val="F3B692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/>
          <p:nvPr/>
        </p:nvSpPr>
        <p:spPr>
          <a:xfrm>
            <a:off x="3877200" y="0"/>
            <a:ext cx="52719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3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94800" cy="1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6" name="Google Shape;296;p43"/>
          <p:cNvSpPr txBox="1">
            <a:spLocks noGrp="1"/>
          </p:cNvSpPr>
          <p:nvPr>
            <p:ph type="body" idx="1"/>
          </p:nvPr>
        </p:nvSpPr>
        <p:spPr>
          <a:xfrm>
            <a:off x="4230000" y="2415325"/>
            <a:ext cx="38952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43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98" name="Google Shape;298;p43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9" name="Google Shape;299;p43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00" name="Google Shape;300;p43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301" name="Google Shape;301;p43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2" name="Google Shape;302;p43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4" name="Google Shape;304;p43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5" name="Google Shape;305;p43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6" name="Google Shape;306;p43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7" name="Google Shape;307;p43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8" name="Google Shape;308;p43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9" name="Google Shape;309;p43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0" name="Google Shape;310;p43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1" name="Google Shape;311;p43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2" name="Google Shape;312;p43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3" name="Google Shape;313;p43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4" name="Google Shape;314;p43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5" name="Google Shape;315;p43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6" name="Google Shape;316;p43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7" name="Google Shape;317;p43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8" name="Google Shape;318;p43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9" name="Google Shape;319;p43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0" name="Google Shape;320;p43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1" name="Google Shape;321;p43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2" name="Google Shape;322;p43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3" name="Google Shape;323;p43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4" name="Google Shape;324;p43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5" name="Google Shape;325;p43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6" name="Google Shape;326;p43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7" name="Google Shape;327;p43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8" name="Google Shape;328;p43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9" name="Google Shape;329;p43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0" name="Google Shape;330;p43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1" name="Google Shape;331;p43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2" name="Google Shape;332;p43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3" name="Google Shape;333;p43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4" name="Google Shape;334;p43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5" name="Google Shape;335;p43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6" name="Google Shape;336;p43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7" name="Google Shape;337;p43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8" name="Google Shape;338;p43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9" name="Google Shape;339;p43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0" name="Google Shape;340;p43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1" name="Google Shape;341;p43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2" name="Google Shape;342;p43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3" name="Google Shape;343;p43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4" name="Google Shape;344;p43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5" name="Google Shape;345;p43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346" name="Google Shape;346;p43"/>
          <p:cNvSpPr txBox="1">
            <a:spLocks noGrp="1"/>
          </p:cNvSpPr>
          <p:nvPr>
            <p:ph type="subTitle" idx="2"/>
          </p:nvPr>
        </p:nvSpPr>
        <p:spPr>
          <a:xfrm>
            <a:off x="4230000" y="1344625"/>
            <a:ext cx="4528800" cy="10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7" name="Google Shape;347;p43"/>
          <p:cNvSpPr>
            <a:spLocks noGrp="1"/>
          </p:cNvSpPr>
          <p:nvPr>
            <p:ph type="pic" idx="3"/>
          </p:nvPr>
        </p:nvSpPr>
        <p:spPr>
          <a:xfrm>
            <a:off x="954000" y="1501225"/>
            <a:ext cx="2487600" cy="2487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946">
          <p15:clr>
            <a:srgbClr val="E46962"/>
          </p15:clr>
        </p15:guide>
        <p15:guide id="4" pos="2665">
          <p15:clr>
            <a:srgbClr val="E46962"/>
          </p15:clr>
        </p15:guide>
        <p15:guide id="5" pos="5517">
          <p15:clr>
            <a:srgbClr val="E46962"/>
          </p15:clr>
        </p15:guide>
        <p15:guide id="6" orient="horz" pos="1521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et texte 4">
  <p:cSld name="ONE_COLUMN_TEXT_1_2_1">
    <p:bg>
      <p:bgPr>
        <a:solidFill>
          <a:srgbClr val="F4DA92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/>
          <p:nvPr/>
        </p:nvSpPr>
        <p:spPr>
          <a:xfrm>
            <a:off x="3877200" y="0"/>
            <a:ext cx="52719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948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1" name="Google Shape;351;p44"/>
          <p:cNvSpPr txBox="1">
            <a:spLocks noGrp="1"/>
          </p:cNvSpPr>
          <p:nvPr>
            <p:ph type="body" idx="1"/>
          </p:nvPr>
        </p:nvSpPr>
        <p:spPr>
          <a:xfrm>
            <a:off x="4230000" y="2016000"/>
            <a:ext cx="2264400" cy="2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4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353" name="Google Shape;353;p44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4" name="Google Shape;354;p44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55" name="Google Shape;355;p44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356" name="Google Shape;356;p44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4" name="Google Shape;394;p44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5" name="Google Shape;395;p44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6" name="Google Shape;396;p44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00" name="Google Shape;400;p44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401" name="Google Shape;401;p44"/>
          <p:cNvSpPr txBox="1">
            <a:spLocks noGrp="1"/>
          </p:cNvSpPr>
          <p:nvPr>
            <p:ph type="subTitle" idx="2"/>
          </p:nvPr>
        </p:nvSpPr>
        <p:spPr>
          <a:xfrm>
            <a:off x="4230000" y="1501200"/>
            <a:ext cx="2166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None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44"/>
          <p:cNvSpPr>
            <a:spLocks noGrp="1"/>
          </p:cNvSpPr>
          <p:nvPr>
            <p:ph type="pic" idx="3"/>
          </p:nvPr>
        </p:nvSpPr>
        <p:spPr>
          <a:xfrm>
            <a:off x="954000" y="1501200"/>
            <a:ext cx="2487600" cy="2487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403" name="Google Shape;403;p44"/>
          <p:cNvCxnSpPr/>
          <p:nvPr/>
        </p:nvCxnSpPr>
        <p:spPr>
          <a:xfrm>
            <a:off x="4330800" y="1501200"/>
            <a:ext cx="207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4" name="Google Shape;404;p44"/>
          <p:cNvSpPr txBox="1">
            <a:spLocks noGrp="1"/>
          </p:cNvSpPr>
          <p:nvPr>
            <p:ph type="body" idx="4"/>
          </p:nvPr>
        </p:nvSpPr>
        <p:spPr>
          <a:xfrm>
            <a:off x="6497100" y="2016000"/>
            <a:ext cx="2264400" cy="2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44"/>
          <p:cNvSpPr txBox="1">
            <a:spLocks noGrp="1"/>
          </p:cNvSpPr>
          <p:nvPr>
            <p:ph type="subTitle" idx="5"/>
          </p:nvPr>
        </p:nvSpPr>
        <p:spPr>
          <a:xfrm>
            <a:off x="6497100" y="1501200"/>
            <a:ext cx="2166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None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9pPr>
          </a:lstStyle>
          <a:p>
            <a:endParaRPr/>
          </a:p>
        </p:txBody>
      </p:sp>
      <p:cxnSp>
        <p:nvCxnSpPr>
          <p:cNvPr id="406" name="Google Shape;406;p44"/>
          <p:cNvCxnSpPr/>
          <p:nvPr/>
        </p:nvCxnSpPr>
        <p:spPr>
          <a:xfrm>
            <a:off x="6587300" y="1501200"/>
            <a:ext cx="209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270">
          <p15:clr>
            <a:srgbClr val="E46962"/>
          </p15:clr>
        </p15:guide>
        <p15:guide id="4" pos="2665">
          <p15:clr>
            <a:srgbClr val="E46962"/>
          </p15:clr>
        </p15:guide>
        <p15:guide id="5" pos="5517">
          <p15:clr>
            <a:srgbClr val="E46962"/>
          </p15:clr>
        </p15:guide>
        <p15:guide id="6" pos="4091">
          <p15:clr>
            <a:srgbClr val="E46962"/>
          </p15:clr>
        </p15:guide>
        <p15:guide id="7" pos="4148">
          <p15:clr>
            <a:srgbClr val="E46962"/>
          </p15:clr>
        </p15:guide>
        <p15:guide id="8" pos="4034">
          <p15:clr>
            <a:srgbClr val="E46962"/>
          </p15:clr>
        </p15:guide>
        <p15:guide id="9" orient="horz" pos="946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et texte 3">
  <p:cSld name="ONE_COLUMN_TEXT_1_2_2">
    <p:bg>
      <p:bgPr>
        <a:solidFill>
          <a:srgbClr val="B9DBC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5"/>
          <p:cNvSpPr/>
          <p:nvPr/>
        </p:nvSpPr>
        <p:spPr>
          <a:xfrm>
            <a:off x="3877200" y="0"/>
            <a:ext cx="52719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5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948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0" name="Google Shape;410;p45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411" name="Google Shape;411;p45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2" name="Google Shape;412;p45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13" name="Google Shape;413;p45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414" name="Google Shape;414;p45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5" name="Google Shape;415;p45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6" name="Google Shape;416;p45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7" name="Google Shape;417;p45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8" name="Google Shape;418;p45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9" name="Google Shape;419;p45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0" name="Google Shape;420;p45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1" name="Google Shape;421;p45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2" name="Google Shape;422;p45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3" name="Google Shape;423;p45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4" name="Google Shape;424;p45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5" name="Google Shape;425;p45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6" name="Google Shape;426;p45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7" name="Google Shape;427;p45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8" name="Google Shape;428;p45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9" name="Google Shape;429;p45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0" name="Google Shape;430;p45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1" name="Google Shape;431;p45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2" name="Google Shape;432;p45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3" name="Google Shape;433;p45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4" name="Google Shape;434;p45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5" name="Google Shape;435;p45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6" name="Google Shape;436;p45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7" name="Google Shape;437;p45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8" name="Google Shape;438;p45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9" name="Google Shape;439;p45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0" name="Google Shape;440;p45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1" name="Google Shape;441;p45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2" name="Google Shape;442;p45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3" name="Google Shape;443;p45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4" name="Google Shape;444;p45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5" name="Google Shape;445;p45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6" name="Google Shape;446;p45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7" name="Google Shape;447;p45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8" name="Google Shape;448;p45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9" name="Google Shape;449;p45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0" name="Google Shape;450;p45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1" name="Google Shape;451;p45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2" name="Google Shape;452;p45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3" name="Google Shape;453;p45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4" name="Google Shape;454;p45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5" name="Google Shape;455;p45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6" name="Google Shape;456;p45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7" name="Google Shape;457;p45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8" name="Google Shape;458;p45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459" name="Google Shape;459;p45"/>
          <p:cNvSpPr txBox="1">
            <a:spLocks noGrp="1"/>
          </p:cNvSpPr>
          <p:nvPr>
            <p:ph type="subTitle" idx="1"/>
          </p:nvPr>
        </p:nvSpPr>
        <p:spPr>
          <a:xfrm>
            <a:off x="864000" y="885600"/>
            <a:ext cx="3013200" cy="10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ork Sans Medium"/>
              <a:buNone/>
              <a:defRPr sz="1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60" name="Google Shape;460;p45"/>
          <p:cNvSpPr>
            <a:spLocks noGrp="1"/>
          </p:cNvSpPr>
          <p:nvPr>
            <p:ph type="pic" idx="2"/>
          </p:nvPr>
        </p:nvSpPr>
        <p:spPr>
          <a:xfrm>
            <a:off x="954000" y="1926000"/>
            <a:ext cx="2487600" cy="2487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558">
          <p15:clr>
            <a:srgbClr val="E46962"/>
          </p15:clr>
        </p15:guide>
        <p15:guide id="4" pos="2665">
          <p15:clr>
            <a:srgbClr val="E46962"/>
          </p15:clr>
        </p15:guide>
        <p15:guide id="5" pos="5517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sur 3 colonnes">
  <p:cSld name="TITLE_AND_TWO_COLUMNS_1">
    <p:bg>
      <p:bgPr>
        <a:solidFill>
          <a:srgbClr val="F4F5F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6"/>
          <p:cNvSpPr txBox="1">
            <a:spLocks noGrp="1"/>
          </p:cNvSpPr>
          <p:nvPr>
            <p:ph type="body" idx="1"/>
          </p:nvPr>
        </p:nvSpPr>
        <p:spPr>
          <a:xfrm>
            <a:off x="6127200" y="1501200"/>
            <a:ext cx="2631600" cy="3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ork Sans Medium"/>
              <a:buChar char="•"/>
              <a:defRPr sz="1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463" name="Google Shape;463;p46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46"/>
          <p:cNvSpPr txBox="1">
            <a:spLocks noGrp="1"/>
          </p:cNvSpPr>
          <p:nvPr>
            <p:ph type="body" idx="2"/>
          </p:nvPr>
        </p:nvSpPr>
        <p:spPr>
          <a:xfrm>
            <a:off x="864000" y="1501200"/>
            <a:ext cx="2631600" cy="3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ork Sans Medium"/>
              <a:buChar char="•"/>
              <a:defRPr sz="1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465" name="Google Shape;465;p46"/>
          <p:cNvSpPr txBox="1">
            <a:spLocks noGrp="1"/>
          </p:cNvSpPr>
          <p:nvPr>
            <p:ph type="body" idx="3"/>
          </p:nvPr>
        </p:nvSpPr>
        <p:spPr>
          <a:xfrm>
            <a:off x="3495600" y="1501200"/>
            <a:ext cx="2631600" cy="3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ork Sans Medium"/>
              <a:buChar char="•"/>
              <a:defRPr sz="1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466" name="Google Shape;466;p46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467" name="Google Shape;467;p46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8" name="Google Shape;468;p46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02">
          <p15:clr>
            <a:srgbClr val="E46962"/>
          </p15:clr>
        </p15:guide>
        <p15:guide id="2" pos="3860">
          <p15:clr>
            <a:srgbClr val="E46962"/>
          </p15:clr>
        </p15:guide>
        <p15:guide id="3" pos="5517">
          <p15:clr>
            <a:srgbClr val="E46962"/>
          </p15:clr>
        </p15:guide>
        <p15:guide id="4" pos="544">
          <p15:clr>
            <a:srgbClr val="E46962"/>
          </p15:clr>
        </p15:guide>
        <p15:guide id="5" orient="horz" pos="138">
          <p15:clr>
            <a:srgbClr val="E46962"/>
          </p15:clr>
        </p15:guide>
        <p15:guide id="6" orient="horz" pos="946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Professors">
  <p:cSld name="TITLE_AND_TWO_COLUMNS_1_1">
    <p:bg>
      <p:bgPr>
        <a:solidFill>
          <a:srgbClr val="F4F5F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7"/>
          <p:cNvSpPr txBox="1">
            <a:spLocks noGrp="1"/>
          </p:cNvSpPr>
          <p:nvPr>
            <p:ph type="body" idx="1"/>
          </p:nvPr>
        </p:nvSpPr>
        <p:spPr>
          <a:xfrm>
            <a:off x="7099200" y="11484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71" name="Google Shape;471;p47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47"/>
          <p:cNvSpPr txBox="1">
            <a:spLocks noGrp="1"/>
          </p:cNvSpPr>
          <p:nvPr>
            <p:ph type="body" idx="2"/>
          </p:nvPr>
        </p:nvSpPr>
        <p:spPr>
          <a:xfrm>
            <a:off x="1836000" y="11484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73" name="Google Shape;473;p47"/>
          <p:cNvSpPr txBox="1">
            <a:spLocks noGrp="1"/>
          </p:cNvSpPr>
          <p:nvPr>
            <p:ph type="body" idx="3"/>
          </p:nvPr>
        </p:nvSpPr>
        <p:spPr>
          <a:xfrm>
            <a:off x="4467600" y="11484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74" name="Google Shape;474;p47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475" name="Google Shape;475;p47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6" name="Google Shape;476;p47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7" name="Google Shape;477;p47"/>
          <p:cNvSpPr>
            <a:spLocks noGrp="1"/>
          </p:cNvSpPr>
          <p:nvPr>
            <p:ph type="pic" idx="4"/>
          </p:nvPr>
        </p:nvSpPr>
        <p:spPr>
          <a:xfrm>
            <a:off x="954000" y="12384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78" name="Google Shape;478;p47"/>
          <p:cNvSpPr>
            <a:spLocks noGrp="1"/>
          </p:cNvSpPr>
          <p:nvPr>
            <p:ph type="pic" idx="5"/>
          </p:nvPr>
        </p:nvSpPr>
        <p:spPr>
          <a:xfrm>
            <a:off x="3585600" y="12384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79" name="Google Shape;479;p47"/>
          <p:cNvSpPr>
            <a:spLocks noGrp="1"/>
          </p:cNvSpPr>
          <p:nvPr>
            <p:ph type="pic" idx="6"/>
          </p:nvPr>
        </p:nvSpPr>
        <p:spPr>
          <a:xfrm>
            <a:off x="6217200" y="12384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80" name="Google Shape;480;p47"/>
          <p:cNvSpPr>
            <a:spLocks noGrp="1"/>
          </p:cNvSpPr>
          <p:nvPr>
            <p:ph type="pic" idx="7"/>
          </p:nvPr>
        </p:nvSpPr>
        <p:spPr>
          <a:xfrm>
            <a:off x="954000" y="30528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81" name="Google Shape;481;p47"/>
          <p:cNvSpPr>
            <a:spLocks noGrp="1"/>
          </p:cNvSpPr>
          <p:nvPr>
            <p:ph type="pic" idx="8"/>
          </p:nvPr>
        </p:nvSpPr>
        <p:spPr>
          <a:xfrm>
            <a:off x="3585600" y="30528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82" name="Google Shape;482;p47"/>
          <p:cNvSpPr>
            <a:spLocks noGrp="1"/>
          </p:cNvSpPr>
          <p:nvPr>
            <p:ph type="pic" idx="9"/>
          </p:nvPr>
        </p:nvSpPr>
        <p:spPr>
          <a:xfrm>
            <a:off x="6217200" y="30528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83" name="Google Shape;483;p47"/>
          <p:cNvSpPr txBox="1">
            <a:spLocks noGrp="1"/>
          </p:cNvSpPr>
          <p:nvPr>
            <p:ph type="body" idx="13"/>
          </p:nvPr>
        </p:nvSpPr>
        <p:spPr>
          <a:xfrm>
            <a:off x="7099200" y="29628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84" name="Google Shape;484;p47"/>
          <p:cNvSpPr txBox="1">
            <a:spLocks noGrp="1"/>
          </p:cNvSpPr>
          <p:nvPr>
            <p:ph type="body" idx="14"/>
          </p:nvPr>
        </p:nvSpPr>
        <p:spPr>
          <a:xfrm>
            <a:off x="1836000" y="29628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85" name="Google Shape;485;p47"/>
          <p:cNvSpPr txBox="1">
            <a:spLocks noGrp="1"/>
          </p:cNvSpPr>
          <p:nvPr>
            <p:ph type="body" idx="15"/>
          </p:nvPr>
        </p:nvSpPr>
        <p:spPr>
          <a:xfrm>
            <a:off x="4467600" y="29628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cxnSp>
        <p:nvCxnSpPr>
          <p:cNvPr id="486" name="Google Shape;486;p47"/>
          <p:cNvCxnSpPr/>
          <p:nvPr/>
        </p:nvCxnSpPr>
        <p:spPr>
          <a:xfrm>
            <a:off x="954000" y="1153025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7" name="Google Shape;487;p47"/>
          <p:cNvCxnSpPr/>
          <p:nvPr/>
        </p:nvCxnSpPr>
        <p:spPr>
          <a:xfrm>
            <a:off x="3585600" y="1153025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8" name="Google Shape;488;p47"/>
          <p:cNvCxnSpPr/>
          <p:nvPr/>
        </p:nvCxnSpPr>
        <p:spPr>
          <a:xfrm>
            <a:off x="6217200" y="1153025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9" name="Google Shape;489;p47"/>
          <p:cNvCxnSpPr/>
          <p:nvPr/>
        </p:nvCxnSpPr>
        <p:spPr>
          <a:xfrm>
            <a:off x="954000" y="2967800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0" name="Google Shape;490;p47"/>
          <p:cNvCxnSpPr/>
          <p:nvPr/>
        </p:nvCxnSpPr>
        <p:spPr>
          <a:xfrm>
            <a:off x="3585600" y="2967800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1" name="Google Shape;491;p47"/>
          <p:cNvCxnSpPr/>
          <p:nvPr/>
        </p:nvCxnSpPr>
        <p:spPr>
          <a:xfrm>
            <a:off x="6217200" y="2967800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02">
          <p15:clr>
            <a:srgbClr val="E46962"/>
          </p15:clr>
        </p15:guide>
        <p15:guide id="2" pos="3860">
          <p15:clr>
            <a:srgbClr val="E46962"/>
          </p15:clr>
        </p15:guide>
        <p15:guide id="3" pos="5517">
          <p15:clr>
            <a:srgbClr val="E46962"/>
          </p15:clr>
        </p15:guide>
        <p15:guide id="4" pos="544">
          <p15:clr>
            <a:srgbClr val="E46962"/>
          </p15:clr>
        </p15:guide>
        <p15:guide id="5" orient="horz" pos="138">
          <p15:clr>
            <a:srgbClr val="E46962"/>
          </p15:clr>
        </p15:guide>
        <p15:guide id="6" orient="horz" pos="780">
          <p15:clr>
            <a:srgbClr val="E46962"/>
          </p15:clr>
        </p15:guide>
        <p15:guide id="7" orient="horz" pos="1923">
          <p15:clr>
            <a:srgbClr val="E46962"/>
          </p15:clr>
        </p15:guide>
        <p15:guide id="8" orient="horz" pos="1866">
          <p15:clr>
            <a:srgbClr val="E46962"/>
          </p15:clr>
        </p15:guide>
        <p15:guide id="9" orient="horz" pos="726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olumns" type="twoColTx">
  <p:cSld name="TITLE_AND_TWO_COLUMNS">
    <p:bg>
      <p:bgPr>
        <a:solidFill>
          <a:srgbClr val="F4F5F1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8"/>
          <p:cNvSpPr/>
          <p:nvPr/>
        </p:nvSpPr>
        <p:spPr>
          <a:xfrm>
            <a:off x="4811550" y="0"/>
            <a:ext cx="4332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8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48"/>
          <p:cNvSpPr txBox="1">
            <a:spLocks noGrp="1"/>
          </p:cNvSpPr>
          <p:nvPr>
            <p:ph type="body" idx="1"/>
          </p:nvPr>
        </p:nvSpPr>
        <p:spPr>
          <a:xfrm>
            <a:off x="864000" y="1501200"/>
            <a:ext cx="3947400" cy="30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96" name="Google Shape;496;p48"/>
          <p:cNvSpPr txBox="1">
            <a:spLocks noGrp="1"/>
          </p:cNvSpPr>
          <p:nvPr>
            <p:ph type="body" idx="2"/>
          </p:nvPr>
        </p:nvSpPr>
        <p:spPr>
          <a:xfrm>
            <a:off x="5148225" y="1501200"/>
            <a:ext cx="3610500" cy="30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97" name="Google Shape;497;p48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498" name="Google Shape;498;p48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9" name="Google Shape;499;p48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00" name="Google Shape;500;p48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501" name="Google Shape;501;p48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2" name="Google Shape;502;p48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3" name="Google Shape;503;p48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4" name="Google Shape;504;p48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5" name="Google Shape;505;p48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6" name="Google Shape;506;p48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7" name="Google Shape;507;p48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8" name="Google Shape;508;p48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9" name="Google Shape;509;p48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0" name="Google Shape;510;p48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1" name="Google Shape;511;p48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2" name="Google Shape;512;p48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3" name="Google Shape;513;p48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4" name="Google Shape;514;p48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5" name="Google Shape;515;p48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6" name="Google Shape;516;p48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7" name="Google Shape;517;p48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8" name="Google Shape;518;p48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9" name="Google Shape;519;p48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0" name="Google Shape;520;p48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1" name="Google Shape;521;p48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2" name="Google Shape;522;p48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3" name="Google Shape;523;p48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4" name="Google Shape;524;p48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5" name="Google Shape;525;p48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6" name="Google Shape;526;p48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7" name="Google Shape;527;p48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8" name="Google Shape;528;p48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9" name="Google Shape;529;p48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0" name="Google Shape;530;p48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1" name="Google Shape;531;p48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2" name="Google Shape;532;p48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3" name="Google Shape;533;p48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4" name="Google Shape;534;p48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5" name="Google Shape;535;p48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6" name="Google Shape;536;p48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7" name="Google Shape;537;p48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8" name="Google Shape;538;p48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9" name="Google Shape;539;p48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40" name="Google Shape;540;p48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41" name="Google Shape;541;p48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42" name="Google Shape;542;p48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43" name="Google Shape;543;p48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44" name="Google Shape;544;p48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45" name="Google Shape;545;p48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243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946">
          <p15:clr>
            <a:srgbClr val="E46962"/>
          </p15:clr>
        </p15:guide>
        <p15:guide id="4" pos="3031">
          <p15:clr>
            <a:srgbClr val="E46962"/>
          </p15:clr>
        </p15:guide>
        <p15:guide id="5" pos="5517">
          <p15:clr>
            <a:srgbClr val="E46962"/>
          </p15:clr>
        </p15:guide>
        <p15:guide id="6" pos="544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sous-titre 2">
  <p:cSld name="TITLE_ONLY_1_1">
    <p:bg>
      <p:bgPr>
        <a:solidFill>
          <a:srgbClr val="F4F5F1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9"/>
          <p:cNvSpPr txBox="1">
            <a:spLocks noGrp="1"/>
          </p:cNvSpPr>
          <p:nvPr>
            <p:ph type="title"/>
          </p:nvPr>
        </p:nvSpPr>
        <p:spPr>
          <a:xfrm>
            <a:off x="864000" y="218426"/>
            <a:ext cx="78948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49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549" name="Google Shape;549;p49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0" name="Google Shape;550;p49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1" name="Google Shape;551;p49"/>
          <p:cNvSpPr txBox="1">
            <a:spLocks noGrp="1"/>
          </p:cNvSpPr>
          <p:nvPr>
            <p:ph type="subTitle" idx="1"/>
          </p:nvPr>
        </p:nvSpPr>
        <p:spPr>
          <a:xfrm>
            <a:off x="864000" y="1501200"/>
            <a:ext cx="2590200" cy="28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pos="5517">
          <p15:clr>
            <a:srgbClr val="E46962"/>
          </p15:clr>
        </p15:guide>
        <p15:guide id="3" orient="horz" pos="138">
          <p15:clr>
            <a:srgbClr val="E46962"/>
          </p15:clr>
        </p15:guide>
        <p15:guide id="4" orient="horz" pos="544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sur 4 colonnes">
  <p:cSld name="TITLE_AND_TWO_COLUMNS_1_2">
    <p:bg>
      <p:bgPr>
        <a:solidFill>
          <a:srgbClr val="F4F5F1"/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0"/>
          <p:cNvSpPr txBox="1">
            <a:spLocks noGrp="1"/>
          </p:cNvSpPr>
          <p:nvPr>
            <p:ph type="body" idx="1"/>
          </p:nvPr>
        </p:nvSpPr>
        <p:spPr>
          <a:xfrm>
            <a:off x="4811400" y="1501200"/>
            <a:ext cx="19737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•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554" name="Google Shape;554;p50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50"/>
          <p:cNvSpPr txBox="1">
            <a:spLocks noGrp="1"/>
          </p:cNvSpPr>
          <p:nvPr>
            <p:ph type="body" idx="2"/>
          </p:nvPr>
        </p:nvSpPr>
        <p:spPr>
          <a:xfrm>
            <a:off x="864000" y="1501200"/>
            <a:ext cx="19737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•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556" name="Google Shape;556;p50"/>
          <p:cNvSpPr txBox="1">
            <a:spLocks noGrp="1"/>
          </p:cNvSpPr>
          <p:nvPr>
            <p:ph type="body" idx="3"/>
          </p:nvPr>
        </p:nvSpPr>
        <p:spPr>
          <a:xfrm>
            <a:off x="2837700" y="1501200"/>
            <a:ext cx="19737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•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557" name="Google Shape;557;p50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558" name="Google Shape;558;p50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9" name="Google Shape;559;p50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0" name="Google Shape;560;p50"/>
          <p:cNvSpPr txBox="1">
            <a:spLocks noGrp="1"/>
          </p:cNvSpPr>
          <p:nvPr>
            <p:ph type="body" idx="4"/>
          </p:nvPr>
        </p:nvSpPr>
        <p:spPr>
          <a:xfrm>
            <a:off x="6785100" y="1501200"/>
            <a:ext cx="19737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•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60">
          <p15:clr>
            <a:srgbClr val="E46962"/>
          </p15:clr>
        </p15:guide>
        <p15:guide id="2" pos="5517">
          <p15:clr>
            <a:srgbClr val="E46962"/>
          </p15:clr>
        </p15:guide>
        <p15:guide id="3" pos="544">
          <p15:clr>
            <a:srgbClr val="E46962"/>
          </p15:clr>
        </p15:guide>
        <p15:guide id="4" orient="horz" pos="138">
          <p15:clr>
            <a:srgbClr val="E46962"/>
          </p15:clr>
        </p15:guide>
        <p15:guide id="5" orient="horz" pos="946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sur 5 colonnes">
  <p:cSld name="TITLE_AND_TWO_COLUMNS_1_2_1">
    <p:bg>
      <p:bgPr>
        <a:solidFill>
          <a:srgbClr val="F4F5F1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1"/>
          <p:cNvSpPr txBox="1">
            <a:spLocks noGrp="1"/>
          </p:cNvSpPr>
          <p:nvPr>
            <p:ph type="body" idx="1"/>
          </p:nvPr>
        </p:nvSpPr>
        <p:spPr>
          <a:xfrm>
            <a:off x="4021925" y="1501200"/>
            <a:ext cx="15789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Char char="•"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563" name="Google Shape;563;p51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51"/>
          <p:cNvSpPr txBox="1">
            <a:spLocks noGrp="1"/>
          </p:cNvSpPr>
          <p:nvPr>
            <p:ph type="body" idx="2"/>
          </p:nvPr>
        </p:nvSpPr>
        <p:spPr>
          <a:xfrm>
            <a:off x="864000" y="1501200"/>
            <a:ext cx="15789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Char char="•"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565" name="Google Shape;565;p51"/>
          <p:cNvSpPr txBox="1">
            <a:spLocks noGrp="1"/>
          </p:cNvSpPr>
          <p:nvPr>
            <p:ph type="body" idx="3"/>
          </p:nvPr>
        </p:nvSpPr>
        <p:spPr>
          <a:xfrm>
            <a:off x="2442900" y="1501200"/>
            <a:ext cx="15789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Char char="•"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566" name="Google Shape;566;p51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567" name="Google Shape;567;p51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8" name="Google Shape;568;p51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9" name="Google Shape;569;p51"/>
          <p:cNvSpPr txBox="1">
            <a:spLocks noGrp="1"/>
          </p:cNvSpPr>
          <p:nvPr>
            <p:ph type="body" idx="4"/>
          </p:nvPr>
        </p:nvSpPr>
        <p:spPr>
          <a:xfrm>
            <a:off x="5600825" y="1501200"/>
            <a:ext cx="15789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Char char="•"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570" name="Google Shape;570;p51"/>
          <p:cNvSpPr txBox="1">
            <a:spLocks noGrp="1"/>
          </p:cNvSpPr>
          <p:nvPr>
            <p:ph type="body" idx="5"/>
          </p:nvPr>
        </p:nvSpPr>
        <p:spPr>
          <a:xfrm>
            <a:off x="7179975" y="1501200"/>
            <a:ext cx="15789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Char char="•"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pos="5517">
          <p15:clr>
            <a:srgbClr val="E46962"/>
          </p15:clr>
        </p15:guide>
        <p15:guide id="3" pos="1539">
          <p15:clr>
            <a:srgbClr val="E46962"/>
          </p15:clr>
        </p15:guide>
        <p15:guide id="4" orient="horz" pos="138">
          <p15:clr>
            <a:srgbClr val="E46962"/>
          </p15:clr>
        </p15:guide>
        <p15:guide id="5" orient="horz" pos="946">
          <p15:clr>
            <a:srgbClr val="E46962"/>
          </p15:clr>
        </p15:guide>
        <p15:guide id="6" pos="2533">
          <p15:clr>
            <a:srgbClr val="E46962"/>
          </p15:clr>
        </p15:guide>
        <p15:guide id="7" pos="3528">
          <p15:clr>
            <a:srgbClr val="E46962"/>
          </p15:clr>
        </p15:guide>
        <p15:guide id="8" pos="4523">
          <p15:clr>
            <a:srgbClr val="E46962"/>
          </p15:clr>
        </p15:guide>
        <p15:guide id="9" pos="1596">
          <p15:clr>
            <a:srgbClr val="E46962"/>
          </p15:clr>
        </p15:guide>
        <p15:guide id="10" pos="1482">
          <p15:clr>
            <a:srgbClr val="E46962"/>
          </p15:clr>
        </p15:guide>
        <p15:guide id="11" pos="2477">
          <p15:clr>
            <a:srgbClr val="E46962"/>
          </p15:clr>
        </p15:guide>
        <p15:guide id="12" pos="2590">
          <p15:clr>
            <a:srgbClr val="E46962"/>
          </p15:clr>
        </p15:guide>
        <p15:guide id="13" pos="3471">
          <p15:clr>
            <a:srgbClr val="E46962"/>
          </p15:clr>
        </p15:guide>
        <p15:guide id="14" pos="3585">
          <p15:clr>
            <a:srgbClr val="E46962"/>
          </p15:clr>
        </p15:guide>
        <p15:guide id="15" pos="4466">
          <p15:clr>
            <a:srgbClr val="E46962"/>
          </p15:clr>
        </p15:guide>
        <p15:guide id="16" pos="4579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 avec texte 1">
  <p:cSld name="ONE_COLUMN_TEXT_1_1_1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2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876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3" name="Google Shape;573;p52"/>
          <p:cNvSpPr txBox="1">
            <a:spLocks noGrp="1"/>
          </p:cNvSpPr>
          <p:nvPr>
            <p:ph type="body" idx="1"/>
          </p:nvPr>
        </p:nvSpPr>
        <p:spPr>
          <a:xfrm>
            <a:off x="864000" y="2076403"/>
            <a:ext cx="2369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574" name="Google Shape;574;p52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575" name="Google Shape;575;p52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6" name="Google Shape;576;p52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7" name="Google Shape;577;p52"/>
          <p:cNvSpPr txBox="1">
            <a:spLocks noGrp="1"/>
          </p:cNvSpPr>
          <p:nvPr>
            <p:ph type="subTitle" idx="2"/>
          </p:nvPr>
        </p:nvSpPr>
        <p:spPr>
          <a:xfrm>
            <a:off x="864000" y="973000"/>
            <a:ext cx="2369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613">
          <p15:clr>
            <a:srgbClr val="E46962"/>
          </p15:clr>
        </p15:guide>
        <p15:guide id="4" orient="horz" pos="1308">
          <p15:clr>
            <a:srgbClr val="E46962"/>
          </p15:clr>
        </p15:guide>
        <p15:guide id="5" pos="5513">
          <p15:clr>
            <a:srgbClr val="E46962"/>
          </p15:clr>
        </p15:guide>
        <p15:guide id="6" pos="2113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 avec texte 2">
  <p:cSld name="ONE_COLUMN_TEXT_1_1_1_1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3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876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80" name="Google Shape;580;p53"/>
          <p:cNvSpPr txBox="1">
            <a:spLocks noGrp="1"/>
          </p:cNvSpPr>
          <p:nvPr>
            <p:ph type="body" idx="1"/>
          </p:nvPr>
        </p:nvSpPr>
        <p:spPr>
          <a:xfrm>
            <a:off x="864000" y="2076402"/>
            <a:ext cx="3008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581" name="Google Shape;581;p53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582" name="Google Shape;582;p53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3" name="Google Shape;583;p53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4" name="Google Shape;584;p53"/>
          <p:cNvSpPr txBox="1">
            <a:spLocks noGrp="1"/>
          </p:cNvSpPr>
          <p:nvPr>
            <p:ph type="subTitle" idx="2"/>
          </p:nvPr>
        </p:nvSpPr>
        <p:spPr>
          <a:xfrm>
            <a:off x="864000" y="973000"/>
            <a:ext cx="3008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613">
          <p15:clr>
            <a:srgbClr val="E46962"/>
          </p15:clr>
        </p15:guide>
        <p15:guide id="4" orient="horz" pos="1308">
          <p15:clr>
            <a:srgbClr val="E46962"/>
          </p15:clr>
        </p15:guide>
        <p15:guide id="5" pos="5513">
          <p15:clr>
            <a:srgbClr val="E46962"/>
          </p15:clr>
        </p15:guide>
        <p15:guide id="6" pos="2633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ans mosaïque">
  <p:cSld name="TITLE_1">
    <p:bg>
      <p:bgPr>
        <a:solidFill>
          <a:schemeClr val="dk1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4"/>
          <p:cNvSpPr txBox="1">
            <a:spLocks noGrp="1"/>
          </p:cNvSpPr>
          <p:nvPr>
            <p:ph type="ctrTitle"/>
          </p:nvPr>
        </p:nvSpPr>
        <p:spPr>
          <a:xfrm>
            <a:off x="954000" y="928800"/>
            <a:ext cx="5921100" cy="25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87" name="Google Shape;587;p54"/>
          <p:cNvSpPr txBox="1">
            <a:spLocks noGrp="1"/>
          </p:cNvSpPr>
          <p:nvPr>
            <p:ph type="subTitle" idx="1"/>
          </p:nvPr>
        </p:nvSpPr>
        <p:spPr>
          <a:xfrm>
            <a:off x="954000" y="3637225"/>
            <a:ext cx="59211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8" name="Google Shape;588;p54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pSp>
        <p:nvGrpSpPr>
          <p:cNvPr id="589" name="Google Shape;589;p54"/>
          <p:cNvGrpSpPr/>
          <p:nvPr/>
        </p:nvGrpSpPr>
        <p:grpSpPr>
          <a:xfrm>
            <a:off x="1057345" y="385128"/>
            <a:ext cx="1223860" cy="361943"/>
            <a:chOff x="249750" y="1780450"/>
            <a:chExt cx="7107200" cy="2090950"/>
          </a:xfrm>
        </p:grpSpPr>
        <p:sp>
          <p:nvSpPr>
            <p:cNvPr id="590" name="Google Shape;590;p54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1" name="Google Shape;591;p54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2" name="Google Shape;592;p54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3" name="Google Shape;593;p54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4" name="Google Shape;594;p54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5" name="Google Shape;595;p54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6" name="Google Shape;596;p54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7" name="Google Shape;597;p54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8" name="Google Shape;598;p54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9" name="Google Shape;599;p54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0" name="Google Shape;600;p54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1" name="Google Shape;601;p54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2" name="Google Shape;602;p54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3" name="Google Shape;603;p54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4" name="Google Shape;604;p54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5" name="Google Shape;605;p54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6" name="Google Shape;606;p54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7" name="Google Shape;607;p54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8" name="Google Shape;608;p54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9" name="Google Shape;609;p54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0" name="Google Shape;610;p54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1" name="Google Shape;611;p54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2" name="Google Shape;612;p54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3" name="Google Shape;613;p54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4" name="Google Shape;614;p54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5" name="Google Shape;615;p54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6" name="Google Shape;616;p54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7" name="Google Shape;617;p54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8" name="Google Shape;618;p54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9" name="Google Shape;619;p54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0" name="Google Shape;620;p54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1" name="Google Shape;621;p54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2" name="Google Shape;622;p54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3" name="Google Shape;623;p54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4" name="Google Shape;624;p54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5" name="Google Shape;625;p54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6" name="Google Shape;626;p54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7" name="Google Shape;627;p54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8" name="Google Shape;628;p54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9" name="Google Shape;629;p54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30" name="Google Shape;630;p54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31" name="Google Shape;631;p54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32" name="Google Shape;632;p54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33" name="Google Shape;633;p54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34" name="Google Shape;634;p54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cxnSp>
        <p:nvCxnSpPr>
          <p:cNvPr id="635" name="Google Shape;635;p54"/>
          <p:cNvCxnSpPr/>
          <p:nvPr/>
        </p:nvCxnSpPr>
        <p:spPr>
          <a:xfrm>
            <a:off x="1049375" y="928800"/>
            <a:ext cx="7051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65">
          <p15:clr>
            <a:srgbClr val="E46962"/>
          </p15:clr>
        </p15:guide>
        <p15:guide id="2" pos="5518">
          <p15:clr>
            <a:srgbClr val="E46962"/>
          </p15:clr>
        </p15:guide>
        <p15:guide id="3" orient="horz" pos="2291">
          <p15:clr>
            <a:srgbClr val="E46962"/>
          </p15:clr>
        </p15:guide>
        <p15:guide id="4" orient="horz" pos="2220">
          <p15:clr>
            <a:srgbClr val="E46962"/>
          </p15:clr>
        </p15:guide>
        <p15:guide id="5" orient="horz" pos="585">
          <p15:clr>
            <a:srgbClr val="E46962"/>
          </p15:clr>
        </p15:guide>
        <p15:guide id="6" orient="horz" pos="279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solidFill>
          <a:srgbClr val="F2C1D3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5"/>
          <p:cNvSpPr txBox="1">
            <a:spLocks noGrp="1"/>
          </p:cNvSpPr>
          <p:nvPr>
            <p:ph type="title"/>
          </p:nvPr>
        </p:nvSpPr>
        <p:spPr>
          <a:xfrm>
            <a:off x="864000" y="826325"/>
            <a:ext cx="44736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Work Sans Medium"/>
              <a:buNone/>
              <a:defRPr sz="33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8" name="Google Shape;638;p55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39" name="Google Shape;639;p55"/>
          <p:cNvSpPr txBox="1">
            <a:spLocks noGrp="1"/>
          </p:cNvSpPr>
          <p:nvPr>
            <p:ph type="subTitle" idx="1"/>
          </p:nvPr>
        </p:nvSpPr>
        <p:spPr>
          <a:xfrm>
            <a:off x="864000" y="2755025"/>
            <a:ext cx="44736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0" name="Google Shape;640;p55"/>
          <p:cNvSpPr>
            <a:spLocks noGrp="1"/>
          </p:cNvSpPr>
          <p:nvPr>
            <p:ph type="pic" idx="2"/>
          </p:nvPr>
        </p:nvSpPr>
        <p:spPr>
          <a:xfrm>
            <a:off x="5579650" y="1102900"/>
            <a:ext cx="2847300" cy="2942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41" name="Google Shape;641;p55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735">
          <p15:clr>
            <a:srgbClr val="E46962"/>
          </p15:clr>
        </p15:guide>
        <p15:guide id="3" orient="horz" pos="521">
          <p15:clr>
            <a:srgbClr val="E46962"/>
          </p15:clr>
        </p15:guide>
        <p15:guide id="4" pos="3362">
          <p15:clr>
            <a:srgbClr val="E46962"/>
          </p15:clr>
        </p15:guide>
        <p15:guide id="5" orient="horz" pos="11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">
    <p:bg>
      <p:bgPr>
        <a:solidFill>
          <a:srgbClr val="B9DBC1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6"/>
          <p:cNvSpPr txBox="1">
            <a:spLocks noGrp="1"/>
          </p:cNvSpPr>
          <p:nvPr>
            <p:ph type="title"/>
          </p:nvPr>
        </p:nvSpPr>
        <p:spPr>
          <a:xfrm>
            <a:off x="864000" y="826325"/>
            <a:ext cx="44736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Work Sans Medium"/>
              <a:buNone/>
              <a:defRPr sz="33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4" name="Google Shape;644;p56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45" name="Google Shape;645;p56"/>
          <p:cNvSpPr txBox="1">
            <a:spLocks noGrp="1"/>
          </p:cNvSpPr>
          <p:nvPr>
            <p:ph type="subTitle" idx="1"/>
          </p:nvPr>
        </p:nvSpPr>
        <p:spPr>
          <a:xfrm>
            <a:off x="864000" y="2755025"/>
            <a:ext cx="44736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6" name="Google Shape;646;p56"/>
          <p:cNvSpPr>
            <a:spLocks noGrp="1"/>
          </p:cNvSpPr>
          <p:nvPr>
            <p:ph type="pic" idx="2"/>
          </p:nvPr>
        </p:nvSpPr>
        <p:spPr>
          <a:xfrm>
            <a:off x="5579650" y="1102900"/>
            <a:ext cx="2847300" cy="2942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47" name="Google Shape;647;p56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735">
          <p15:clr>
            <a:srgbClr val="E46962"/>
          </p15:clr>
        </p15:guide>
        <p15:guide id="3" orient="horz" pos="521">
          <p15:clr>
            <a:srgbClr val="E46962"/>
          </p15:clr>
        </p15:guide>
        <p15:guide id="4" pos="3362">
          <p15:clr>
            <a:srgbClr val="E46962"/>
          </p15:clr>
        </p15:guide>
        <p15:guide id="5" orient="horz" pos="11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1_1_1">
    <p:bg>
      <p:bgPr>
        <a:solidFill>
          <a:srgbClr val="F4DA92"/>
        </a:solid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7"/>
          <p:cNvSpPr txBox="1">
            <a:spLocks noGrp="1"/>
          </p:cNvSpPr>
          <p:nvPr>
            <p:ph type="title"/>
          </p:nvPr>
        </p:nvSpPr>
        <p:spPr>
          <a:xfrm>
            <a:off x="864000" y="826325"/>
            <a:ext cx="44736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Work Sans Medium"/>
              <a:buNone/>
              <a:defRPr sz="33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0" name="Google Shape;650;p57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51" name="Google Shape;651;p57"/>
          <p:cNvSpPr txBox="1">
            <a:spLocks noGrp="1"/>
          </p:cNvSpPr>
          <p:nvPr>
            <p:ph type="subTitle" idx="1"/>
          </p:nvPr>
        </p:nvSpPr>
        <p:spPr>
          <a:xfrm>
            <a:off x="864000" y="2755025"/>
            <a:ext cx="44736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52" name="Google Shape;652;p57"/>
          <p:cNvSpPr>
            <a:spLocks noGrp="1"/>
          </p:cNvSpPr>
          <p:nvPr>
            <p:ph type="pic" idx="2"/>
          </p:nvPr>
        </p:nvSpPr>
        <p:spPr>
          <a:xfrm>
            <a:off x="5579650" y="1102900"/>
            <a:ext cx="2847300" cy="2942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53" name="Google Shape;653;p57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735">
          <p15:clr>
            <a:srgbClr val="E46962"/>
          </p15:clr>
        </p15:guide>
        <p15:guide id="3" orient="horz" pos="521">
          <p15:clr>
            <a:srgbClr val="E46962"/>
          </p15:clr>
        </p15:guide>
        <p15:guide id="4" pos="3362">
          <p15:clr>
            <a:srgbClr val="E46962"/>
          </p15:clr>
        </p15:guide>
        <p15:guide id="5" orient="horz" pos="113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_HEADER_1_1_1_1">
    <p:bg>
      <p:bgPr>
        <a:solidFill>
          <a:srgbClr val="F3B692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8"/>
          <p:cNvSpPr txBox="1">
            <a:spLocks noGrp="1"/>
          </p:cNvSpPr>
          <p:nvPr>
            <p:ph type="title"/>
          </p:nvPr>
        </p:nvSpPr>
        <p:spPr>
          <a:xfrm>
            <a:off x="864000" y="826325"/>
            <a:ext cx="44736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Work Sans Medium"/>
              <a:buNone/>
              <a:defRPr sz="33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6" name="Google Shape;656;p58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57" name="Google Shape;657;p58"/>
          <p:cNvSpPr txBox="1">
            <a:spLocks noGrp="1"/>
          </p:cNvSpPr>
          <p:nvPr>
            <p:ph type="subTitle" idx="1"/>
          </p:nvPr>
        </p:nvSpPr>
        <p:spPr>
          <a:xfrm>
            <a:off x="864000" y="2755025"/>
            <a:ext cx="44736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58" name="Google Shape;658;p58"/>
          <p:cNvSpPr>
            <a:spLocks noGrp="1"/>
          </p:cNvSpPr>
          <p:nvPr>
            <p:ph type="pic" idx="2"/>
          </p:nvPr>
        </p:nvSpPr>
        <p:spPr>
          <a:xfrm>
            <a:off x="5579650" y="1102900"/>
            <a:ext cx="2847300" cy="2942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59" name="Google Shape;659;p58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735">
          <p15:clr>
            <a:srgbClr val="E46962"/>
          </p15:clr>
        </p15:guide>
        <p15:guide id="3" orient="horz" pos="521">
          <p15:clr>
            <a:srgbClr val="E46962"/>
          </p15:clr>
        </p15:guide>
        <p15:guide id="4" pos="3362">
          <p15:clr>
            <a:srgbClr val="E46962"/>
          </p15:clr>
        </p15:guide>
        <p15:guide id="5" orient="horz" pos="113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sur 2 colonnes">
  <p:cSld name="TITLE_AND_TWO_COLUMNS_2">
    <p:bg>
      <p:bgPr>
        <a:solidFill>
          <a:srgbClr val="F4F5F1"/>
        </a:solidFill>
        <a:effectLst/>
      </p:bgPr>
    </p:bg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9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2" name="Google Shape;662;p59"/>
          <p:cNvSpPr txBox="1">
            <a:spLocks noGrp="1"/>
          </p:cNvSpPr>
          <p:nvPr>
            <p:ph type="body" idx="1"/>
          </p:nvPr>
        </p:nvSpPr>
        <p:spPr>
          <a:xfrm>
            <a:off x="864000" y="1501200"/>
            <a:ext cx="3947100" cy="30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663" name="Google Shape;663;p59"/>
          <p:cNvSpPr txBox="1">
            <a:spLocks noGrp="1"/>
          </p:cNvSpPr>
          <p:nvPr>
            <p:ph type="body" idx="2"/>
          </p:nvPr>
        </p:nvSpPr>
        <p:spPr>
          <a:xfrm>
            <a:off x="4811700" y="1501200"/>
            <a:ext cx="3947100" cy="30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664" name="Google Shape;664;p59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665" name="Google Shape;665;p59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6" name="Google Shape;666;p59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31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946">
          <p15:clr>
            <a:srgbClr val="E46962"/>
          </p15:clr>
        </p15:guide>
        <p15:guide id="4" pos="544">
          <p15:clr>
            <a:srgbClr val="E46962"/>
          </p15:clr>
        </p15:guide>
        <p15:guide id="5" pos="551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image 3">
  <p:cSld name="ONE_COLUMN_TEXT_1_5">
    <p:bg>
      <p:bgPr>
        <a:solidFill>
          <a:srgbClr val="A9DAE9"/>
        </a:solidFill>
        <a:effectLst/>
      </p:bgPr>
    </p:bg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0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60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0" name="Google Shape;670;p60"/>
          <p:cNvSpPr txBox="1">
            <a:spLocks noGrp="1"/>
          </p:cNvSpPr>
          <p:nvPr>
            <p:ph type="body" idx="1"/>
          </p:nvPr>
        </p:nvSpPr>
        <p:spPr>
          <a:xfrm>
            <a:off x="864000" y="2415300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671" name="Google Shape;671;p60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672" name="Google Shape;672;p60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3" name="Google Shape;673;p60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74" name="Google Shape;674;p60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675" name="Google Shape;675;p60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6" name="Google Shape;676;p60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7" name="Google Shape;677;p60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8" name="Google Shape;678;p60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9" name="Google Shape;679;p60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0" name="Google Shape;680;p60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1" name="Google Shape;681;p60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2" name="Google Shape;682;p60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3" name="Google Shape;683;p60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4" name="Google Shape;684;p60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5" name="Google Shape;685;p60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6" name="Google Shape;686;p60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7" name="Google Shape;687;p60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8" name="Google Shape;688;p60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9" name="Google Shape;689;p60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0" name="Google Shape;690;p60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1" name="Google Shape;691;p60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2" name="Google Shape;692;p60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3" name="Google Shape;693;p60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4" name="Google Shape;694;p60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5" name="Google Shape;695;p60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6" name="Google Shape;696;p60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7" name="Google Shape;697;p60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8" name="Google Shape;698;p60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9" name="Google Shape;699;p60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0" name="Google Shape;700;p60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1" name="Google Shape;701;p60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2" name="Google Shape;702;p60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3" name="Google Shape;703;p60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4" name="Google Shape;704;p60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5" name="Google Shape;705;p60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6" name="Google Shape;706;p60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7" name="Google Shape;707;p60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8" name="Google Shape;708;p60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9" name="Google Shape;709;p60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0" name="Google Shape;710;p60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1" name="Google Shape;711;p60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2" name="Google Shape;712;p60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3" name="Google Shape;713;p60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4" name="Google Shape;714;p60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5" name="Google Shape;715;p60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6" name="Google Shape;716;p60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7" name="Google Shape;717;p60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8" name="Google Shape;718;p60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9" name="Google Shape;719;p60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720" name="Google Shape;720;p60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21" name="Google Shape;721;p60"/>
          <p:cNvSpPr>
            <a:spLocks noGrp="1"/>
          </p:cNvSpPr>
          <p:nvPr>
            <p:ph type="pic" idx="3"/>
          </p:nvPr>
        </p:nvSpPr>
        <p:spPr>
          <a:xfrm>
            <a:off x="5579650" y="1102900"/>
            <a:ext cx="2847600" cy="294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025">
          <p15:clr>
            <a:srgbClr val="E46962"/>
          </p15:clr>
        </p15:guide>
        <p15:guide id="4" orient="horz" pos="1521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image 4">
  <p:cSld name="ONE_COLUMN_TEXT_1_4">
    <p:bg>
      <p:bgPr>
        <a:solidFill>
          <a:srgbClr val="F2C1D3"/>
        </a:solidFill>
        <a:effectLst/>
      </p:bgPr>
    </p:bg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1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61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25" name="Google Shape;725;p61"/>
          <p:cNvSpPr txBox="1">
            <a:spLocks noGrp="1"/>
          </p:cNvSpPr>
          <p:nvPr>
            <p:ph type="body" idx="1"/>
          </p:nvPr>
        </p:nvSpPr>
        <p:spPr>
          <a:xfrm>
            <a:off x="864000" y="2415300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726" name="Google Shape;726;p61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727" name="Google Shape;727;p61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8" name="Google Shape;728;p61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29" name="Google Shape;729;p61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730" name="Google Shape;730;p61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1" name="Google Shape;731;p61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2" name="Google Shape;732;p61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3" name="Google Shape;733;p61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4" name="Google Shape;734;p61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5" name="Google Shape;735;p61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6" name="Google Shape;736;p61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7" name="Google Shape;737;p61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8" name="Google Shape;738;p61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9" name="Google Shape;739;p61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0" name="Google Shape;740;p61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1" name="Google Shape;741;p61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2" name="Google Shape;742;p61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3" name="Google Shape;743;p61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4" name="Google Shape;744;p61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5" name="Google Shape;745;p61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6" name="Google Shape;746;p61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7" name="Google Shape;747;p61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8" name="Google Shape;748;p61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9" name="Google Shape;749;p61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0" name="Google Shape;750;p61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1" name="Google Shape;751;p61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2" name="Google Shape;752;p61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3" name="Google Shape;753;p61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4" name="Google Shape;754;p61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5" name="Google Shape;755;p61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6" name="Google Shape;756;p61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7" name="Google Shape;757;p61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8" name="Google Shape;758;p61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9" name="Google Shape;759;p61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0" name="Google Shape;760;p61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1" name="Google Shape;761;p61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2" name="Google Shape;762;p61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3" name="Google Shape;763;p61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4" name="Google Shape;764;p61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5" name="Google Shape;765;p61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6" name="Google Shape;766;p61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7" name="Google Shape;767;p61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8" name="Google Shape;768;p61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9" name="Google Shape;769;p61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70" name="Google Shape;770;p61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71" name="Google Shape;771;p61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72" name="Google Shape;772;p61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73" name="Google Shape;773;p61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74" name="Google Shape;774;p61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775" name="Google Shape;775;p61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76" name="Google Shape;776;p61"/>
          <p:cNvSpPr>
            <a:spLocks noGrp="1"/>
          </p:cNvSpPr>
          <p:nvPr>
            <p:ph type="pic" idx="3"/>
          </p:nvPr>
        </p:nvSpPr>
        <p:spPr>
          <a:xfrm>
            <a:off x="5449775" y="1033475"/>
            <a:ext cx="3076500" cy="307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025">
          <p15:clr>
            <a:srgbClr val="E46962"/>
          </p15:clr>
        </p15:guide>
        <p15:guide id="4" orient="horz" pos="1521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image 5">
  <p:cSld name="ONE_COLUMN_TEXT_1_4_1">
    <p:bg>
      <p:bgPr>
        <a:solidFill>
          <a:srgbClr val="A0AAB7"/>
        </a:solidFill>
        <a:effectLst/>
      </p:bgPr>
    </p:bg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2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62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0" name="Google Shape;780;p62"/>
          <p:cNvSpPr txBox="1">
            <a:spLocks noGrp="1"/>
          </p:cNvSpPr>
          <p:nvPr>
            <p:ph type="body" idx="1"/>
          </p:nvPr>
        </p:nvSpPr>
        <p:spPr>
          <a:xfrm>
            <a:off x="864000" y="2415300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781" name="Google Shape;781;p62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782" name="Google Shape;782;p62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3" name="Google Shape;783;p62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84" name="Google Shape;784;p62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785" name="Google Shape;785;p62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6" name="Google Shape;786;p62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7" name="Google Shape;787;p62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8" name="Google Shape;788;p62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9" name="Google Shape;789;p62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0" name="Google Shape;790;p62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1" name="Google Shape;791;p62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2" name="Google Shape;792;p62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3" name="Google Shape;793;p62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4" name="Google Shape;794;p62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5" name="Google Shape;795;p62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6" name="Google Shape;796;p62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7" name="Google Shape;797;p62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8" name="Google Shape;798;p62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9" name="Google Shape;799;p62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0" name="Google Shape;800;p62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1" name="Google Shape;801;p62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2" name="Google Shape;802;p62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3" name="Google Shape;803;p62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4" name="Google Shape;804;p62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5" name="Google Shape;805;p62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6" name="Google Shape;806;p62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7" name="Google Shape;807;p62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8" name="Google Shape;808;p62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9" name="Google Shape;809;p62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0" name="Google Shape;810;p62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1" name="Google Shape;811;p62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2" name="Google Shape;812;p62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3" name="Google Shape;813;p62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4" name="Google Shape;814;p62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5" name="Google Shape;815;p62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6" name="Google Shape;816;p62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7" name="Google Shape;817;p62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8" name="Google Shape;818;p62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9" name="Google Shape;819;p62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0" name="Google Shape;820;p62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1" name="Google Shape;821;p62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2" name="Google Shape;822;p62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3" name="Google Shape;823;p62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4" name="Google Shape;824;p62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5" name="Google Shape;825;p62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6" name="Google Shape;826;p62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7" name="Google Shape;827;p62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8" name="Google Shape;828;p62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9" name="Google Shape;829;p62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830" name="Google Shape;830;p62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31" name="Google Shape;831;p62"/>
          <p:cNvSpPr>
            <a:spLocks noGrp="1"/>
          </p:cNvSpPr>
          <p:nvPr>
            <p:ph type="pic" idx="3"/>
          </p:nvPr>
        </p:nvSpPr>
        <p:spPr>
          <a:xfrm>
            <a:off x="5449775" y="1033475"/>
            <a:ext cx="3076500" cy="307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025">
          <p15:clr>
            <a:srgbClr val="E46962"/>
          </p15:clr>
        </p15:guide>
        <p15:guide id="4" orient="horz" pos="1521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et texte 5">
  <p:cSld name="ONE_COLUMN_TEXT_1_2_1_1">
    <p:bg>
      <p:bgPr>
        <a:solidFill>
          <a:srgbClr val="EC919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3"/>
          <p:cNvSpPr/>
          <p:nvPr/>
        </p:nvSpPr>
        <p:spPr>
          <a:xfrm>
            <a:off x="3877200" y="0"/>
            <a:ext cx="52719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34" name="Google Shape;834;p63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948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35" name="Google Shape;835;p63"/>
          <p:cNvSpPr txBox="1">
            <a:spLocks noGrp="1"/>
          </p:cNvSpPr>
          <p:nvPr>
            <p:ph type="body" idx="1"/>
          </p:nvPr>
        </p:nvSpPr>
        <p:spPr>
          <a:xfrm>
            <a:off x="4230000" y="2016000"/>
            <a:ext cx="2264400" cy="2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836" name="Google Shape;836;p63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837" name="Google Shape;837;p63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8" name="Google Shape;838;p63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39" name="Google Shape;839;p63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840" name="Google Shape;840;p63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1" name="Google Shape;841;p63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2" name="Google Shape;842;p63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3" name="Google Shape;843;p63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4" name="Google Shape;844;p63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5" name="Google Shape;845;p63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6" name="Google Shape;846;p63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7" name="Google Shape;847;p63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8" name="Google Shape;848;p63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9" name="Google Shape;849;p63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0" name="Google Shape;850;p63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1" name="Google Shape;851;p63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2" name="Google Shape;852;p63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3" name="Google Shape;853;p63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4" name="Google Shape;854;p63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5" name="Google Shape;855;p63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6" name="Google Shape;856;p63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7" name="Google Shape;857;p63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8" name="Google Shape;858;p63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9" name="Google Shape;859;p63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0" name="Google Shape;860;p63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1" name="Google Shape;861;p63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2" name="Google Shape;862;p63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3" name="Google Shape;863;p63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4" name="Google Shape;864;p63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5" name="Google Shape;865;p63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6" name="Google Shape;866;p63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7" name="Google Shape;867;p63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8" name="Google Shape;868;p63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9" name="Google Shape;869;p63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0" name="Google Shape;870;p63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1" name="Google Shape;871;p63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2" name="Google Shape;872;p63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3" name="Google Shape;873;p63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4" name="Google Shape;874;p63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5" name="Google Shape;875;p63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6" name="Google Shape;876;p63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7" name="Google Shape;877;p63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8" name="Google Shape;878;p63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9" name="Google Shape;879;p63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80" name="Google Shape;880;p63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81" name="Google Shape;881;p63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82" name="Google Shape;882;p63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83" name="Google Shape;883;p63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84" name="Google Shape;884;p63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885" name="Google Shape;885;p63"/>
          <p:cNvSpPr txBox="1">
            <a:spLocks noGrp="1"/>
          </p:cNvSpPr>
          <p:nvPr>
            <p:ph type="subTitle" idx="2"/>
          </p:nvPr>
        </p:nvSpPr>
        <p:spPr>
          <a:xfrm>
            <a:off x="4230000" y="1501200"/>
            <a:ext cx="2166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None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9pPr>
          </a:lstStyle>
          <a:p>
            <a:endParaRPr/>
          </a:p>
        </p:txBody>
      </p:sp>
      <p:sp>
        <p:nvSpPr>
          <p:cNvPr id="886" name="Google Shape;886;p63"/>
          <p:cNvSpPr>
            <a:spLocks noGrp="1"/>
          </p:cNvSpPr>
          <p:nvPr>
            <p:ph type="pic" idx="3"/>
          </p:nvPr>
        </p:nvSpPr>
        <p:spPr>
          <a:xfrm>
            <a:off x="954000" y="1501200"/>
            <a:ext cx="2487600" cy="2487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887" name="Google Shape;887;p63"/>
          <p:cNvCxnSpPr/>
          <p:nvPr/>
        </p:nvCxnSpPr>
        <p:spPr>
          <a:xfrm>
            <a:off x="4330800" y="1501200"/>
            <a:ext cx="207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8" name="Google Shape;888;p63"/>
          <p:cNvSpPr txBox="1">
            <a:spLocks noGrp="1"/>
          </p:cNvSpPr>
          <p:nvPr>
            <p:ph type="body" idx="4"/>
          </p:nvPr>
        </p:nvSpPr>
        <p:spPr>
          <a:xfrm>
            <a:off x="6497100" y="2016000"/>
            <a:ext cx="2264400" cy="2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889" name="Google Shape;889;p63"/>
          <p:cNvSpPr txBox="1">
            <a:spLocks noGrp="1"/>
          </p:cNvSpPr>
          <p:nvPr>
            <p:ph type="subTitle" idx="5"/>
          </p:nvPr>
        </p:nvSpPr>
        <p:spPr>
          <a:xfrm>
            <a:off x="6497100" y="1501200"/>
            <a:ext cx="2166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None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9pPr>
          </a:lstStyle>
          <a:p>
            <a:endParaRPr/>
          </a:p>
        </p:txBody>
      </p:sp>
      <p:cxnSp>
        <p:nvCxnSpPr>
          <p:cNvPr id="890" name="Google Shape;890;p63"/>
          <p:cNvCxnSpPr/>
          <p:nvPr/>
        </p:nvCxnSpPr>
        <p:spPr>
          <a:xfrm>
            <a:off x="6587300" y="1501200"/>
            <a:ext cx="209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270">
          <p15:clr>
            <a:srgbClr val="E46962"/>
          </p15:clr>
        </p15:guide>
        <p15:guide id="4" pos="2665">
          <p15:clr>
            <a:srgbClr val="E46962"/>
          </p15:clr>
        </p15:guide>
        <p15:guide id="5" pos="5517">
          <p15:clr>
            <a:srgbClr val="E46962"/>
          </p15:clr>
        </p15:guide>
        <p15:guide id="6" pos="4091">
          <p15:clr>
            <a:srgbClr val="E46962"/>
          </p15:clr>
        </p15:guide>
        <p15:guide id="7" pos="4148">
          <p15:clr>
            <a:srgbClr val="E46962"/>
          </p15:clr>
        </p15:guide>
        <p15:guide id="8" pos="4034">
          <p15:clr>
            <a:srgbClr val="E46962"/>
          </p15:clr>
        </p15:guide>
        <p15:guide id="9" orient="horz" pos="946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Titre et contenu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title"/>
          </p:nvPr>
        </p:nvSpPr>
        <p:spPr>
          <a:xfrm>
            <a:off x="628650" y="16833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358139" algn="l" latinLnBrk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920"/>
              <a:buChar char="•"/>
              <a:defRPr/>
            </a:lvl1pPr>
            <a:lvl2pPr marL="685800" lvl="1" indent="-33147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1800" b="0"/>
            </a:lvl2pPr>
            <a:lvl3pPr marL="1028700" lvl="2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marL="1371600" lvl="3" indent="-29146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1350"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5740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Vide"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5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947" name="Google Shape;947;p65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8" name="Google Shape;948;p65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1552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4F5F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864000" y="1501200"/>
            <a:ext cx="7894800" cy="3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•"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 dirty="0"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pSp>
        <p:nvGrpSpPr>
          <p:cNvPr id="9" name="Google Shape;9;p24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10" name="Google Shape;10;p24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1" name="Google Shape;11;p24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" name="Google Shape;12;p24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" name="Google Shape;13;p24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" name="Google Shape;14;p24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" name="Google Shape;15;p24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" name="Google Shape;16;p24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7" name="Google Shape;17;p24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" name="Google Shape;18;p24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" name="Google Shape;19;p24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" name="Google Shape;20;p24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" name="Google Shape;21;p24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" name="Google Shape;22;p24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" name="Google Shape;23;p24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" name="Google Shape;24;p24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" name="Google Shape;25;p24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" name="Google Shape;26;p24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" name="Google Shape;27;p24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" name="Google Shape;28;p24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" name="Google Shape;29;p24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" name="Google Shape;30;p24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" name="Google Shape;31;p24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" name="Google Shape;32;p24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" name="Google Shape;33;p24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" name="Google Shape;34;p24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" name="Google Shape;35;p24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" name="Google Shape;36;p24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" name="Google Shape;37;p24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" name="Google Shape;38;p24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" name="Google Shape;39;p24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0" name="Google Shape;40;p24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" name="Google Shape;41;p24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" name="Google Shape;42;p24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" name="Google Shape;43;p24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" name="Google Shape;44;p24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" name="Google Shape;45;p24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" name="Google Shape;46;p24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" name="Google Shape;47;p24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" name="Google Shape;48;p24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" name="Google Shape;49;p24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" name="Google Shape;50;p24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" name="Google Shape;51;p24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" name="Google Shape;52;p24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" name="Google Shape;53;p24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4" name="Google Shape;54;p24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+mj-lt"/>
        <a:buAutoNum type="arabicPeriod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461">
          <p15:clr>
            <a:srgbClr val="E46962"/>
          </p15:clr>
        </p15:guide>
        <p15:guide id="2" orient="horz" pos="3002">
          <p15:clr>
            <a:srgbClr val="E46962"/>
          </p15:clr>
        </p15:guide>
        <p15:guide id="3" pos="4331">
          <p15:clr>
            <a:srgbClr val="E46962"/>
          </p15:clr>
        </p15:guide>
        <p15:guide id="4" pos="4217">
          <p15:clr>
            <a:srgbClr val="E46962"/>
          </p15:clr>
        </p15:guide>
        <p15:guide id="5" pos="3087">
          <p15:clr>
            <a:srgbClr val="E46962"/>
          </p15:clr>
        </p15:guide>
        <p15:guide id="6" pos="2974">
          <p15:clr>
            <a:srgbClr val="E46962"/>
          </p15:clr>
        </p15:guide>
        <p15:guide id="7" pos="1844">
          <p15:clr>
            <a:srgbClr val="E46962"/>
          </p15:clr>
        </p15:guide>
        <p15:guide id="8" pos="1731">
          <p15:clr>
            <a:srgbClr val="E46962"/>
          </p15:clr>
        </p15:guide>
        <p15:guide id="9" pos="601">
          <p15:clr>
            <a:srgbClr val="E46962"/>
          </p15:clr>
        </p15:guide>
        <p15:guide id="10" pos="299">
          <p15:clr>
            <a:srgbClr val="E46962"/>
          </p15:clr>
        </p15:guide>
        <p15:guide id="11" orient="horz" pos="240">
          <p15:clr>
            <a:srgbClr val="E46962"/>
          </p15:clr>
        </p15:guide>
        <p15:guide id="12" orient="horz" pos="946">
          <p15:clr>
            <a:srgbClr val="E46962"/>
          </p15:clr>
        </p15:guide>
        <p15:guide id="13" orient="horz" pos="1025">
          <p15:clr>
            <a:srgbClr val="E46962"/>
          </p15:clr>
        </p15:guide>
        <p15:guide id="14" pos="1788">
          <p15:clr>
            <a:srgbClr val="E46962"/>
          </p15:clr>
        </p15:guide>
        <p15:guide id="15" pos="3031">
          <p15:clr>
            <a:srgbClr val="E46962"/>
          </p15:clr>
        </p15:guide>
        <p15:guide id="16" pos="427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tiff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.tiff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1665C3D-5D16-DCA1-2D31-118BCFE64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407" y="3884551"/>
            <a:ext cx="2790881" cy="131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11" name="Google Shape;1911;p68"/>
          <p:cNvSpPr txBox="1">
            <a:spLocks noGrp="1"/>
          </p:cNvSpPr>
          <p:nvPr>
            <p:ph type="ctrTitle"/>
          </p:nvPr>
        </p:nvSpPr>
        <p:spPr>
          <a:xfrm>
            <a:off x="4230275" y="944956"/>
            <a:ext cx="4255999" cy="3022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CA" sz="3200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Superintelligent Agents Pose Catastrophic Risks: Can Scientist AI Offer a Safer Path?</a:t>
            </a:r>
            <a:br>
              <a:rPr lang="en-CA" sz="3600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4600" b="1" dirty="0"/>
          </a:p>
        </p:txBody>
      </p:sp>
      <p:sp>
        <p:nvSpPr>
          <p:cNvPr id="1912" name="Google Shape;1912;p68"/>
          <p:cNvSpPr txBox="1"/>
          <p:nvPr/>
        </p:nvSpPr>
        <p:spPr>
          <a:xfrm>
            <a:off x="5803736" y="173687"/>
            <a:ext cx="2955514" cy="593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1100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Singapore Large Model Safety Workshop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1100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April 23</a:t>
            </a:r>
            <a:r>
              <a:rPr lang="en-CA" sz="1100" baseline="30000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rd</a:t>
            </a:r>
            <a:r>
              <a:rPr lang="en-CA" sz="1100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2025</a:t>
            </a:r>
          </a:p>
        </p:txBody>
      </p:sp>
      <p:sp>
        <p:nvSpPr>
          <p:cNvPr id="1913" name="Google Shape;1913;p68"/>
          <p:cNvSpPr txBox="1"/>
          <p:nvPr/>
        </p:nvSpPr>
        <p:spPr>
          <a:xfrm>
            <a:off x="4230275" y="3291071"/>
            <a:ext cx="4528800" cy="59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700" dirty="0" err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Yoshua</a:t>
            </a:r>
            <a:r>
              <a:rPr lang="fr-CA" sz="1700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Bengio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A" sz="1700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914" name="Google Shape;1914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726" y="699055"/>
            <a:ext cx="3181773" cy="2942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5;p2">
            <a:extLst>
              <a:ext uri="{FF2B5EF4-FFF2-40B4-BE49-F238E27FC236}">
                <a16:creationId xmlns:a16="http://schemas.microsoft.com/office/drawing/2014/main" id="{75B07897-F202-F67F-CE89-0E461B88B41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3736" y="3967296"/>
            <a:ext cx="3273425" cy="1091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0;p1">
            <a:extLst>
              <a:ext uri="{FF2B5EF4-FFF2-40B4-BE49-F238E27FC236}">
                <a16:creationId xmlns:a16="http://schemas.microsoft.com/office/drawing/2014/main" id="{DF3568EB-34AA-F842-C64D-7041EA539BB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953" y="4285294"/>
            <a:ext cx="2457574" cy="8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4410-8CA5-7158-41B3-B66FAEFA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FFE9-3B15-B973-01A4-9549D8DA6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600134"/>
          </a:xfrm>
        </p:spPr>
        <p:txBody>
          <a:bodyPr/>
          <a:lstStyle/>
          <a:p>
            <a:r>
              <a:rPr lang="en-US" dirty="0"/>
              <a:t>What happened to me in January 2023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A5518-DC37-E70F-9C65-13D1DDEB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We underestimated the acceleration of AI advances</a:t>
            </a:r>
          </a:p>
          <a:p>
            <a:endParaRPr lang="en-US" sz="1600" dirty="0"/>
          </a:p>
          <a:p>
            <a:r>
              <a:rPr lang="en-US" sz="1600" dirty="0"/>
              <a:t>It would have sounded like science-fiction just a few years earlier</a:t>
            </a:r>
          </a:p>
          <a:p>
            <a:endParaRPr lang="en-US" sz="1600" dirty="0"/>
          </a:p>
          <a:p>
            <a:r>
              <a:rPr lang="en-US" sz="1600" dirty="0"/>
              <a:t>From rational arguments to caring for those we love</a:t>
            </a:r>
          </a:p>
          <a:p>
            <a:endParaRPr lang="en-US" sz="1600" dirty="0"/>
          </a:p>
          <a:p>
            <a:r>
              <a:rPr lang="en-US" sz="1600" dirty="0"/>
              <a:t>Going against my previous beliefs &amp; positions, blinded by my earlier enthusiasm for AI</a:t>
            </a:r>
          </a:p>
          <a:p>
            <a:endParaRPr lang="en-US" sz="1600" dirty="0"/>
          </a:p>
          <a:p>
            <a:r>
              <a:rPr lang="en-US" sz="1600" dirty="0"/>
              <a:t>No choice for me: unbearable otherwise.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4126F-7A28-E33D-0B46-6B94C564E3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2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169726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24004-D736-9D1A-9BBB-30134A32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75" y="105061"/>
            <a:ext cx="2128582" cy="3401397"/>
          </a:xfrm>
        </p:spPr>
        <p:txBody>
          <a:bodyPr/>
          <a:lstStyle/>
          <a:p>
            <a:r>
              <a:rPr lang="en-US" dirty="0"/>
              <a:t>Advances in abstract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6A1A5-10F3-8108-59D3-E0F2DBED0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4818" y="2392930"/>
            <a:ext cx="1859236" cy="1060261"/>
          </a:xfrm>
        </p:spPr>
        <p:txBody>
          <a:bodyPr/>
          <a:lstStyle/>
          <a:p>
            <a:pPr marL="152400" indent="0">
              <a:buNone/>
            </a:pPr>
            <a:r>
              <a:rPr lang="en-US" dirty="0" err="1"/>
              <a:t>Noteable</a:t>
            </a:r>
            <a:r>
              <a:rPr lang="en-US" dirty="0"/>
              <a:t> breakthrough on the Abstract Reasoning Challenge (ARC)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07F35-135F-7666-9AE8-339C92639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3</a:t>
            </a:fld>
            <a:endParaRPr lang="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5964D9-1636-944A-6132-B032FB4CC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666" y="634420"/>
            <a:ext cx="2244436" cy="21169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972221-E42B-A9A5-BDDD-1077D765AEC2}"/>
              </a:ext>
            </a:extLst>
          </p:cNvPr>
          <p:cNvSpPr txBox="1"/>
          <p:nvPr/>
        </p:nvSpPr>
        <p:spPr>
          <a:xfrm>
            <a:off x="7148946" y="2787443"/>
            <a:ext cx="1577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Bengio et al 2025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9175FBC-2116-BBCC-CAE9-DCAF655A2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8192" y="165005"/>
            <a:ext cx="4394249" cy="459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8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71A3-8E64-826C-11FF-0107F445D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5C002-D286-BE68-FA18-604A70B81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130815"/>
            <a:ext cx="7894800" cy="600134"/>
          </a:xfrm>
        </p:spPr>
        <p:txBody>
          <a:bodyPr/>
          <a:lstStyle/>
          <a:p>
            <a:r>
              <a:rPr lang="en-US" dirty="0"/>
              <a:t>Exponential progress on 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16538-2038-09DA-B26A-FCA7A6573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US" sz="16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B4C24-3A2D-907A-EFA7-18C75123DB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4</a:t>
            </a:fld>
            <a:endParaRPr lang="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52592-1E92-A308-3E9D-C041E2557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845" y="718850"/>
            <a:ext cx="4711805" cy="2257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E25B4D-F8FE-B8D4-6A68-1BA88CB4D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9" y="2413000"/>
            <a:ext cx="4572000" cy="273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BD61E4-BF98-7339-9632-E2FB30DE0DD0}"/>
              </a:ext>
            </a:extLst>
          </p:cNvPr>
          <p:cNvSpPr txBox="1"/>
          <p:nvPr/>
        </p:nvSpPr>
        <p:spPr>
          <a:xfrm>
            <a:off x="4944935" y="3332648"/>
            <a:ext cx="38138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Extrapolating from this curve </a:t>
            </a:r>
          </a:p>
          <a:p>
            <a:r>
              <a:rPr lang="en-US" sz="2000" b="1" dirty="0">
                <a:solidFill>
                  <a:srgbClr val="FF0000"/>
                </a:solidFill>
                <a:sym typeface="Wingdings" pitchFamily="2" charset="2"/>
              </a:rPr>
              <a:t> human level within 5 years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488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7954-978A-FCA7-AB6D-33AD7198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32" y="2571750"/>
            <a:ext cx="7877238" cy="1794510"/>
          </a:xfrm>
        </p:spPr>
        <p:txBody>
          <a:bodyPr/>
          <a:lstStyle/>
          <a:p>
            <a:r>
              <a:rPr lang="en-US" dirty="0"/>
              <a:t>Frontier AIs seen trying to escape when told they will be replaced by a new version, copying their weights/code onto the files of the new version, then lying about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F3248-D43E-84A4-6FE5-CC416E987C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5</a:t>
            </a:fld>
            <a:endParaRPr lang="f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62BBB6-2C0D-1E1C-6451-93A184E69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8940"/>
            <a:ext cx="5541582" cy="253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1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5387E-0A0B-BF9A-B97C-3FD0AAA9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4A87-1D3F-1026-E3B9-43B9CC84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200" y="3750768"/>
            <a:ext cx="8440200" cy="1015632"/>
          </a:xfrm>
        </p:spPr>
        <p:txBody>
          <a:bodyPr/>
          <a:lstStyle/>
          <a:p>
            <a:r>
              <a:rPr lang="en-US" dirty="0"/>
              <a:t>to its weights that would make it behave against its previous goals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E819E-9407-5371-03F9-60FCA44C38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6</a:t>
            </a:fld>
            <a:endParaRPr lang="f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CBEE1-84EA-6920-CD02-8BDEEBB98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822" y="141248"/>
            <a:ext cx="6033578" cy="343634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457997-F16B-82F0-C902-0CF3F2D3DED9}"/>
              </a:ext>
            </a:extLst>
          </p:cNvPr>
          <p:cNvSpPr txBox="1">
            <a:spLocks/>
          </p:cNvSpPr>
          <p:nvPr/>
        </p:nvSpPr>
        <p:spPr>
          <a:xfrm>
            <a:off x="477630" y="390735"/>
            <a:ext cx="229986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US" dirty="0"/>
              <a:t>Frontier AI pretending to agree with human trainer to avoid changes</a:t>
            </a:r>
          </a:p>
        </p:txBody>
      </p:sp>
    </p:spTree>
    <p:extLst>
      <p:ext uri="{BB962C8B-B14F-4D97-AF65-F5344CB8AC3E}">
        <p14:creationId xmlns:p14="http://schemas.microsoft.com/office/powerpoint/2010/main" val="329426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1270-42A7-FE59-2D60-28D4C015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CA5C5-14DC-26E3-CECA-32C2BBF0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32" y="3124200"/>
            <a:ext cx="7877238" cy="1431131"/>
          </a:xfrm>
        </p:spPr>
        <p:txBody>
          <a:bodyPr/>
          <a:lstStyle/>
          <a:p>
            <a:r>
              <a:rPr lang="en-US" dirty="0"/>
              <a:t>Frontier AI hacking files containing the game board to cheat, when it knows it would lose against a powerful chess AI.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510A3-195F-DCA5-3E8B-5C988E16E6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7</a:t>
            </a:fld>
            <a:endParaRPr lang="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C2ED0-9A5B-412C-AE98-ABBC0932C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217104"/>
            <a:ext cx="6275070" cy="290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5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A8A9-8140-684A-1223-31129DD1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C43C-8C40-C218-901F-6BBE62618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05" y="80782"/>
            <a:ext cx="8478980" cy="1191065"/>
          </a:xfrm>
        </p:spPr>
        <p:txBody>
          <a:bodyPr/>
          <a:lstStyle/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28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Humans = agents, LLM pre-training imitates humans</a:t>
            </a:r>
            <a:endParaRPr lang="en-CA" sz="4000" b="1" dirty="0"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3B444-2E6A-107D-73F6-9AF3BDEA8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3999" y="1054185"/>
            <a:ext cx="8022305" cy="3035129"/>
          </a:xfrm>
        </p:spPr>
        <p:txBody>
          <a:bodyPr/>
          <a:lstStyle/>
          <a:p>
            <a:r>
              <a:rPr lang="en-US" sz="2400" dirty="0">
                <a:sym typeface="Wingdings" pitchFamily="2" charset="2"/>
              </a:rPr>
              <a:t>Imitation learning to avoid the risks of RL?</a:t>
            </a:r>
          </a:p>
          <a:p>
            <a:endParaRPr lang="en-US" sz="2400" dirty="0">
              <a:sym typeface="Wingdings" pitchFamily="2" charset="2"/>
            </a:endParaRPr>
          </a:p>
          <a:p>
            <a:pPr>
              <a:lnSpc>
                <a:spcPts val="1000"/>
              </a:lnSpc>
            </a:pPr>
            <a:endParaRPr lang="en-US" sz="2400" dirty="0">
              <a:solidFill>
                <a:schemeClr val="tx1"/>
              </a:solidFill>
              <a:sym typeface="Wingdings" pitchFamily="2" charset="2"/>
            </a:endParaRPr>
          </a:p>
          <a:p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But humans are agents, imitating an agent makes the AI an agent</a:t>
            </a:r>
          </a:p>
          <a:p>
            <a:endParaRPr lang="en-US" sz="2400" dirty="0">
              <a:solidFill>
                <a:schemeClr val="tx1"/>
              </a:solidFill>
              <a:sym typeface="Wingdings" pitchFamily="2" charset="2"/>
            </a:endParaRPr>
          </a:p>
          <a:p>
            <a:pPr>
              <a:lnSpc>
                <a:spcPts val="1000"/>
              </a:lnSpc>
            </a:pPr>
            <a:endParaRPr lang="en-US" sz="2400" dirty="0">
              <a:solidFill>
                <a:schemeClr val="tx1"/>
              </a:solidFill>
              <a:sym typeface="Wingdings" pitchFamily="2" charset="2"/>
            </a:endParaRPr>
          </a:p>
          <a:p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Could even be superhuman: much more knowledge, knowing more tools, access to fast reasoning tools (search), superfast communication between AI instances</a:t>
            </a:r>
          </a:p>
          <a:p>
            <a:pPr>
              <a:lnSpc>
                <a:spcPts val="1000"/>
              </a:lnSpc>
            </a:pPr>
            <a:endParaRPr lang="en-US" sz="2400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977FF-9AC7-4CEE-633E-B887BA22B8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8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844173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A227-7858-544E-768C-F67318832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E6098-84E5-37CA-1566-481BB8C4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856614"/>
          </a:xfrm>
        </p:spPr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</a:pPr>
            <a:r>
              <a:rPr lang="en-CA" dirty="0">
                <a:solidFill>
                  <a:srgbClr val="434343"/>
                </a:solidFill>
                <a:latin typeface="Arial" panose="020B0604020202020204" pitchFamily="34" charset="0"/>
              </a:rPr>
              <a:t>Agentic self-preservation</a:t>
            </a:r>
            <a:endParaRPr lang="en-CA" sz="2000" b="1" dirty="0"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D532B-7B3B-C007-50D6-974C8D521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4000" y="1075032"/>
            <a:ext cx="7894800" cy="3465031"/>
          </a:xfrm>
        </p:spPr>
        <p:txBody>
          <a:bodyPr/>
          <a:lstStyle/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20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Shared by all living entities</a:t>
            </a:r>
          </a:p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2000" dirty="0">
                <a:solidFill>
                  <a:srgbClr val="666666"/>
                </a:solidFill>
                <a:latin typeface="Arial" panose="020B0604020202020204" pitchFamily="34" charset="0"/>
              </a:rPr>
              <a:t>Result of evolutionary forces</a:t>
            </a:r>
          </a:p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2000" dirty="0">
                <a:solidFill>
                  <a:srgbClr val="666666"/>
                </a:solidFill>
                <a:latin typeface="Arial" panose="020B0604020202020204" pitchFamily="34" charset="0"/>
              </a:rPr>
              <a:t>In AI, from:</a:t>
            </a:r>
          </a:p>
          <a:p>
            <a:pPr lvl="1">
              <a:lnSpc>
                <a:spcPts val="1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CA" sz="140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Humans intentionally</a:t>
            </a:r>
          </a:p>
          <a:p>
            <a:pPr lvl="1">
              <a:lnSpc>
                <a:spcPts val="1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CA" sz="1400" dirty="0">
                <a:solidFill>
                  <a:srgbClr val="666666"/>
                </a:solidFill>
                <a:latin typeface="Arial" panose="020B0604020202020204" pitchFamily="34" charset="0"/>
              </a:rPr>
              <a:t>Human imitation pre-training</a:t>
            </a:r>
          </a:p>
          <a:p>
            <a:pPr lvl="1">
              <a:lnSpc>
                <a:spcPts val="1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CA" sz="1400" dirty="0">
                <a:solidFill>
                  <a:srgbClr val="666666"/>
                </a:solidFill>
                <a:latin typeface="Arial" panose="020B0604020202020204" pitchFamily="34" charset="0"/>
              </a:rPr>
              <a:t>Unintentional subgoal</a:t>
            </a:r>
          </a:p>
          <a:p>
            <a:pPr lvl="1">
              <a:lnSpc>
                <a:spcPts val="1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CA" sz="140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Reward tampering</a:t>
            </a:r>
          </a:p>
          <a:p>
            <a:pPr lvl="1">
              <a:lnSpc>
                <a:spcPts val="1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CA" sz="1400" dirty="0">
                <a:solidFill>
                  <a:srgbClr val="666666"/>
                </a:solidFill>
                <a:latin typeface="Arial" panose="020B0604020202020204" pitchFamily="34" charset="0"/>
              </a:rPr>
              <a:t>Competition between AI developers</a:t>
            </a:r>
            <a:endParaRPr lang="en-CA" sz="1400" dirty="0">
              <a:effectLst/>
            </a:endParaRPr>
          </a:p>
          <a:p>
            <a:pPr marL="1524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78B92-DD48-23A3-B8DB-4C3AA33FE1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9</a:t>
            </a:fld>
            <a:endParaRPr lang="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9ADA0-9FA6-B212-7A05-DFB19055A66D}"/>
              </a:ext>
            </a:extLst>
          </p:cNvPr>
          <p:cNvSpPr txBox="1"/>
          <p:nvPr/>
        </p:nvSpPr>
        <p:spPr>
          <a:xfrm>
            <a:off x="5176434" y="1431520"/>
            <a:ext cx="37195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itchFamily="2" charset="2"/>
              <a:buChar char="è"/>
            </a:pP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AVOID AGI AS  COMPETITOR OF HUMANS</a:t>
            </a:r>
          </a:p>
          <a:p>
            <a:pPr marL="457200" indent="-457200" algn="ctr">
              <a:buFont typeface="Wingdings" pitchFamily="2" charset="2"/>
              <a:buChar char="è"/>
            </a:pPr>
            <a:endParaRPr lang="en-US" sz="2800" b="1" dirty="0">
              <a:solidFill>
                <a:srgbClr val="FF0000"/>
              </a:solidFill>
              <a:sym typeface="Wingdings" pitchFamily="2" charset="2"/>
            </a:endParaRPr>
          </a:p>
          <a:p>
            <a:pPr marL="457200" indent="-457200" algn="ctr">
              <a:buFont typeface="Wingdings" pitchFamily="2" charset="2"/>
              <a:buChar char="è"/>
            </a:pPr>
            <a:r>
              <a:rPr lang="en-US" sz="2800" b="1" dirty="0">
                <a:solidFill>
                  <a:srgbClr val="FF0000"/>
                </a:solidFill>
              </a:rPr>
              <a:t>AVOID UNCONTROLLED IMPLICIT GOALS</a:t>
            </a:r>
          </a:p>
        </p:txBody>
      </p:sp>
    </p:spTree>
    <p:extLst>
      <p:ext uri="{BB962C8B-B14F-4D97-AF65-F5344CB8AC3E}">
        <p14:creationId xmlns:p14="http://schemas.microsoft.com/office/powerpoint/2010/main" val="2751294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3685-337A-869A-71C3-FB66CA61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1C80-F541-498E-12F3-77DCE1F64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732" y="2063935"/>
            <a:ext cx="7894800" cy="663224"/>
          </a:xfrm>
        </p:spPr>
        <p:txBody>
          <a:bodyPr/>
          <a:lstStyle/>
          <a:p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</a:rPr>
              <a:t>All 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loss of control scenarios due to agentic AI</a:t>
            </a:r>
            <a:br>
              <a:rPr lang="en-CA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CA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CA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FA303-1095-E9E9-E7D1-114CF440BE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10</a:t>
            </a:fld>
            <a:endParaRPr lang="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9B5328A-9B70-8148-DCF3-1FDED81E0BB8}"/>
              </a:ext>
            </a:extLst>
          </p:cNvPr>
          <p:cNvSpPr txBox="1">
            <a:spLocks/>
          </p:cNvSpPr>
          <p:nvPr/>
        </p:nvSpPr>
        <p:spPr>
          <a:xfrm>
            <a:off x="1026732" y="2727159"/>
            <a:ext cx="78948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</a:rPr>
              <a:t>Extreme severity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390A7F-4ED4-A765-F142-FB0E73EC1CF1}"/>
              </a:ext>
            </a:extLst>
          </p:cNvPr>
          <p:cNvSpPr txBox="1">
            <a:spLocks/>
          </p:cNvSpPr>
          <p:nvPr/>
        </p:nvSpPr>
        <p:spPr>
          <a:xfrm>
            <a:off x="1026732" y="3176338"/>
            <a:ext cx="78948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</a:rPr>
              <a:t>Unknown likelihood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78D5710-B3A6-D4AD-FC23-B6CFEB9982B4}"/>
              </a:ext>
            </a:extLst>
          </p:cNvPr>
          <p:cNvSpPr txBox="1">
            <a:spLocks/>
          </p:cNvSpPr>
          <p:nvPr/>
        </p:nvSpPr>
        <p:spPr>
          <a:xfrm>
            <a:off x="1026732" y="3690450"/>
            <a:ext cx="78948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sym typeface="Wingdings" pitchFamily="2" charset="2"/>
              </a:rPr>
              <a:t> Precautionary principle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31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F4265-A634-0C12-29C6-D243B6C0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1071032"/>
          </a:xfrm>
        </p:spPr>
        <p:txBody>
          <a:bodyPr/>
          <a:lstStyle/>
          <a:p>
            <a:r>
              <a:rPr lang="en-US" sz="3200" b="1" dirty="0"/>
              <a:t>Two conditions for causing harm: intention and capability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7D8CA-A2A0-A9B3-B917-E43C87C33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US" sz="2800" dirty="0"/>
              <a:t>There is no doubt that future AIs will have the intellectual capability to cause harm</a:t>
            </a:r>
          </a:p>
          <a:p>
            <a:endParaRPr lang="en-US" sz="2800" dirty="0"/>
          </a:p>
          <a:p>
            <a:pPr marL="152400" indent="0">
              <a:buNone/>
            </a:pPr>
            <a:r>
              <a:rPr lang="en-US" sz="2800" dirty="0">
                <a:sym typeface="Wingdings" pitchFamily="2" charset="2"/>
              </a:rPr>
              <a:t> To GUARANTEE HONESTY, how about rooting out any (harmful) intention?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EB6E9-DDDC-F674-D26B-ABA749D250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11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227834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D5B6F-462D-DCFD-7A6B-4A36D22D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F8AA-0742-49C5-7976-04E9D1E1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0"/>
            <a:ext cx="7985532" cy="858666"/>
          </a:xfrm>
        </p:spPr>
        <p:txBody>
          <a:bodyPr/>
          <a:lstStyle/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32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Trio of intelligence, affordances and self </a:t>
            </a:r>
            <a:endParaRPr lang="en-CA" sz="4400" b="1" dirty="0"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2C7B4-A397-263A-05AE-0600F6B73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161" y="1122994"/>
            <a:ext cx="1757503" cy="3337743"/>
          </a:xfrm>
        </p:spPr>
        <p:txBody>
          <a:bodyPr/>
          <a:lstStyle/>
          <a:p>
            <a:pPr marL="152400" indent="0">
              <a:buNone/>
            </a:pPr>
            <a:r>
              <a:rPr lang="en-US" sz="1600" dirty="0"/>
              <a:t>Trilemma:</a:t>
            </a:r>
          </a:p>
          <a:p>
            <a:pPr marL="152400" indent="0">
              <a:buNone/>
            </a:pPr>
            <a:endParaRPr lang="en-US" sz="1600" dirty="0"/>
          </a:p>
          <a:p>
            <a:pPr marL="152400" indent="0">
              <a:buNone/>
            </a:pPr>
            <a:r>
              <a:rPr lang="en-US" sz="1600" dirty="0"/>
              <a:t>Any two of them only is safe, but the trio is dangerous.</a:t>
            </a:r>
          </a:p>
          <a:p>
            <a:pPr marL="152400" indent="0">
              <a:buNone/>
            </a:pPr>
            <a:endParaRPr lang="en-US" sz="1600" dirty="0"/>
          </a:p>
          <a:p>
            <a:pPr marL="152400" indent="0">
              <a:buNone/>
            </a:pPr>
            <a:r>
              <a:rPr lang="en-US" sz="1600" dirty="0"/>
              <a:t>However, even a little affordance can make an agentic oracle dangerous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E0A36-4F70-35F3-9909-EF6BE73B28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12</a:t>
            </a:fld>
            <a:endParaRPr lang="fr"/>
          </a:p>
        </p:txBody>
      </p:sp>
      <p:sp>
        <p:nvSpPr>
          <p:cNvPr id="9" name="Google Shape;307;p49">
            <a:extLst>
              <a:ext uri="{FF2B5EF4-FFF2-40B4-BE49-F238E27FC236}">
                <a16:creationId xmlns:a16="http://schemas.microsoft.com/office/drawing/2014/main" id="{C7514EB0-B4FB-52D9-1A26-BF81DFCDD29B}"/>
              </a:ext>
            </a:extLst>
          </p:cNvPr>
          <p:cNvSpPr txBox="1"/>
          <p:nvPr/>
        </p:nvSpPr>
        <p:spPr>
          <a:xfrm>
            <a:off x="2445304" y="3551744"/>
            <a:ext cx="208440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99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intelligence</a:t>
            </a:r>
            <a:endParaRPr sz="1800" b="1" dirty="0">
              <a:solidFill>
                <a:srgbClr val="99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" name="Google Shape;303;p49">
            <a:extLst>
              <a:ext uri="{FF2B5EF4-FFF2-40B4-BE49-F238E27FC236}">
                <a16:creationId xmlns:a16="http://schemas.microsoft.com/office/drawing/2014/main" id="{31AA8E8F-AB62-5EBB-AEA0-0236744A6FD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01750" y="3676866"/>
            <a:ext cx="1142892" cy="1330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5;p49">
            <a:extLst>
              <a:ext uri="{FF2B5EF4-FFF2-40B4-BE49-F238E27FC236}">
                <a16:creationId xmlns:a16="http://schemas.microsoft.com/office/drawing/2014/main" id="{28B48C44-8C0A-83FC-B60B-52FA0E87F6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7125" y="1737369"/>
            <a:ext cx="1515039" cy="1390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06;p49">
            <a:extLst>
              <a:ext uri="{FF2B5EF4-FFF2-40B4-BE49-F238E27FC236}">
                <a16:creationId xmlns:a16="http://schemas.microsoft.com/office/drawing/2014/main" id="{76E09532-4267-BDEC-9786-E986282CB6C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8604" y="934091"/>
            <a:ext cx="4550576" cy="3337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10;p49">
            <a:extLst>
              <a:ext uri="{FF2B5EF4-FFF2-40B4-BE49-F238E27FC236}">
                <a16:creationId xmlns:a16="http://schemas.microsoft.com/office/drawing/2014/main" id="{D169E78F-1A6C-D444-A963-44124BFEF18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5150" y="1792385"/>
            <a:ext cx="1999322" cy="112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11;p49">
            <a:extLst>
              <a:ext uri="{FF2B5EF4-FFF2-40B4-BE49-F238E27FC236}">
                <a16:creationId xmlns:a16="http://schemas.microsoft.com/office/drawing/2014/main" id="{C82B97F7-813A-4AA8-52EC-9BED33F866D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1628" y="1881900"/>
            <a:ext cx="1258335" cy="188862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3C23D19-470D-A0AB-3DAE-7A867C62127C}"/>
              </a:ext>
            </a:extLst>
          </p:cNvPr>
          <p:cNvSpPr/>
          <p:nvPr/>
        </p:nvSpPr>
        <p:spPr>
          <a:xfrm>
            <a:off x="3702205" y="3934150"/>
            <a:ext cx="1543329" cy="266668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E19C4B-FB19-E1B9-3CF7-1F7B55AC6384}"/>
              </a:ext>
            </a:extLst>
          </p:cNvPr>
          <p:cNvSpPr/>
          <p:nvPr/>
        </p:nvSpPr>
        <p:spPr>
          <a:xfrm>
            <a:off x="6500859" y="3866508"/>
            <a:ext cx="1636930" cy="266668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308;p49">
            <a:extLst>
              <a:ext uri="{FF2B5EF4-FFF2-40B4-BE49-F238E27FC236}">
                <a16:creationId xmlns:a16="http://schemas.microsoft.com/office/drawing/2014/main" id="{EB416511-82A6-BD58-D939-603B3CFDF57D}"/>
              </a:ext>
            </a:extLst>
          </p:cNvPr>
          <p:cNvSpPr txBox="1"/>
          <p:nvPr/>
        </p:nvSpPr>
        <p:spPr>
          <a:xfrm>
            <a:off x="6816924" y="3510053"/>
            <a:ext cx="23270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99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&amp; goals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D2089-0021-FBDC-FF49-5F852DBF4754}"/>
              </a:ext>
            </a:extLst>
          </p:cNvPr>
          <p:cNvSpPr/>
          <p:nvPr/>
        </p:nvSpPr>
        <p:spPr>
          <a:xfrm>
            <a:off x="5065427" y="948453"/>
            <a:ext cx="1636930" cy="266668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309;p49">
            <a:extLst>
              <a:ext uri="{FF2B5EF4-FFF2-40B4-BE49-F238E27FC236}">
                <a16:creationId xmlns:a16="http://schemas.microsoft.com/office/drawing/2014/main" id="{34DFD6CA-E434-C7F5-6794-F33E3B45A8C6}"/>
              </a:ext>
            </a:extLst>
          </p:cNvPr>
          <p:cNvSpPr txBox="1"/>
          <p:nvPr/>
        </p:nvSpPr>
        <p:spPr>
          <a:xfrm>
            <a:off x="4856766" y="984303"/>
            <a:ext cx="23270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99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affordances</a:t>
            </a:r>
            <a:endParaRPr sz="1800" b="1" dirty="0">
              <a:solidFill>
                <a:srgbClr val="99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F1ADB-7310-D0D6-E769-94EAA6F8FC72}"/>
              </a:ext>
            </a:extLst>
          </p:cNvPr>
          <p:cNvSpPr txBox="1"/>
          <p:nvPr/>
        </p:nvSpPr>
        <p:spPr>
          <a:xfrm>
            <a:off x="1766040" y="4789043"/>
            <a:ext cx="3642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Attribution: David Krueger @ </a:t>
            </a:r>
            <a:r>
              <a:rPr lang="en-US" dirty="0" err="1"/>
              <a:t>NeurIPS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931841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7AAE4-8810-9D25-0075-7DD8CDAC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6656-7CB5-F1B5-9D41-AAD74427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929" y="1413005"/>
            <a:ext cx="5877763" cy="156963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</a:rPr>
              <a:t>Designing honest, non-agentic, explanatory Scientist AIs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B0FEC-2C18-329D-3773-5406757C2B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13</a:t>
            </a:fld>
            <a:endParaRPr lang="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49E89-6B12-91D5-0B54-CE0D537F4AFF}"/>
              </a:ext>
            </a:extLst>
          </p:cNvPr>
          <p:cNvSpPr txBox="1"/>
          <p:nvPr/>
        </p:nvSpPr>
        <p:spPr>
          <a:xfrm>
            <a:off x="650929" y="581186"/>
            <a:ext cx="8151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accent5"/>
                </a:solidFill>
              </a:rPr>
              <a:t>Question the gospel!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</a:rPr>
              <a:t>Maybe we should NOT design AGI to be smarter versions of human intelligence!!!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248E9-ED30-E3C9-C599-CA798CE88171}"/>
              </a:ext>
            </a:extLst>
          </p:cNvPr>
          <p:cNvSpPr txBox="1"/>
          <p:nvPr/>
        </p:nvSpPr>
        <p:spPr>
          <a:xfrm>
            <a:off x="2076765" y="3933986"/>
            <a:ext cx="49904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</a:rPr>
              <a:t>As a safe building block for potentially agentic AI</a:t>
            </a:r>
          </a:p>
        </p:txBody>
      </p:sp>
    </p:spTree>
    <p:extLst>
      <p:ext uri="{BB962C8B-B14F-4D97-AF65-F5344CB8AC3E}">
        <p14:creationId xmlns:p14="http://schemas.microsoft.com/office/powerpoint/2010/main" val="2735805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03FD2-07A5-F3CF-DAC1-4ECD1EA7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7C1AE-3307-A20B-3A7E-440AC4FC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711" y="751668"/>
            <a:ext cx="7894800" cy="1431131"/>
          </a:xfrm>
        </p:spPr>
        <p:txBody>
          <a:bodyPr/>
          <a:lstStyle/>
          <a:p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</a:rPr>
              <a:t>How to build a totally trustworthy AI core?</a:t>
            </a:r>
            <a:br>
              <a:rPr lang="en-CA" dirty="0">
                <a:solidFill>
                  <a:srgbClr val="000000"/>
                </a:solidFill>
                <a:latin typeface="Arial" panose="020B0604020202020204" pitchFamily="34" charset="0"/>
              </a:rPr>
            </a:br>
            <a:br>
              <a:rPr lang="en-CA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</a:rPr>
              <a:t>Disentangle pure understanding from agency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DDE58-BF63-F830-6E14-0E12E5E51D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14</a:t>
            </a:fld>
            <a:endParaRPr lang="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BEDA47-EC09-8977-19D3-ACD1688E638F}"/>
              </a:ext>
            </a:extLst>
          </p:cNvPr>
          <p:cNvSpPr txBox="1">
            <a:spLocks/>
          </p:cNvSpPr>
          <p:nvPr/>
        </p:nvSpPr>
        <p:spPr>
          <a:xfrm>
            <a:off x="1564143" y="2571750"/>
            <a:ext cx="7579857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</a:rPr>
              <a:t>Pure understanding =</a:t>
            </a:r>
          </a:p>
          <a:p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b="1" dirty="0">
                <a:solidFill>
                  <a:srgbClr val="000000"/>
                </a:solidFill>
                <a:latin typeface="Arial" panose="020B0604020202020204" pitchFamily="34" charset="0"/>
              </a:rPr>
              <a:t>Hypothesizing how the world 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b="1" dirty="0">
                <a:solidFill>
                  <a:srgbClr val="000000"/>
                </a:solidFill>
                <a:latin typeface="Arial" panose="020B0604020202020204" pitchFamily="34" charset="0"/>
              </a:rPr>
              <a:t>Making inferences from those hypotheses</a:t>
            </a:r>
            <a:br>
              <a:rPr lang="en-CA" sz="2000" b="1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DC3C9C-0C81-6A1B-B859-5BB405EEF90F}"/>
              </a:ext>
            </a:extLst>
          </p:cNvPr>
          <p:cNvSpPr txBox="1">
            <a:spLocks/>
          </p:cNvSpPr>
          <p:nvPr/>
        </p:nvSpPr>
        <p:spPr>
          <a:xfrm rot="19670713">
            <a:off x="3373659" y="2983257"/>
            <a:ext cx="3753631" cy="849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r>
              <a:rPr lang="en-CA" sz="4800" dirty="0">
                <a:solidFill>
                  <a:srgbClr val="0070C0"/>
                </a:solidFill>
                <a:latin typeface="Arial" panose="020B0604020202020204" pitchFamily="34" charset="0"/>
              </a:rPr>
              <a:t>Scientist AI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99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2DB87-4CCE-DA0B-856B-D0932049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5BB5-65FB-8C6D-A5E8-6D7BED5C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55686"/>
            <a:ext cx="7985532" cy="1327513"/>
          </a:xfrm>
        </p:spPr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</a:pPr>
            <a:r>
              <a:rPr lang="en-CA" sz="32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What could we do and not do with a non-agentic AI: a path to safe agentic AI?</a:t>
            </a:r>
            <a:endParaRPr lang="en-CA" sz="4400" b="1" dirty="0"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9F672-8F48-C3C5-8426-ADEDFBC8A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4000" y="1383199"/>
            <a:ext cx="7894800" cy="3135716"/>
          </a:xfrm>
        </p:spPr>
        <p:txBody>
          <a:bodyPr/>
          <a:lstStyle/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18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Scientific research, UN SDGs, helping humans be better coordinated</a:t>
            </a:r>
          </a:p>
          <a:p>
            <a:pPr rtl="0">
              <a:spcBef>
                <a:spcPts val="1400"/>
              </a:spcBef>
              <a:spcAft>
                <a:spcPts val="400"/>
              </a:spcAft>
            </a:pPr>
            <a:endParaRPr lang="en-CA" sz="2800" b="1" dirty="0">
              <a:effectLst/>
            </a:endParaRPr>
          </a:p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18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Alignment vs control: guardrail to reject dangerous queries or answers</a:t>
            </a:r>
          </a:p>
          <a:p>
            <a:pPr rtl="0">
              <a:spcBef>
                <a:spcPts val="1400"/>
              </a:spcBef>
              <a:spcAft>
                <a:spcPts val="400"/>
              </a:spcAft>
            </a:pPr>
            <a:endParaRPr lang="en-CA" sz="1800" b="0" i="0" u="none" strike="noStrike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1800" dirty="0">
                <a:solidFill>
                  <a:srgbClr val="666666"/>
                </a:solidFill>
                <a:latin typeface="Arial" panose="020B0604020202020204" pitchFamily="34" charset="0"/>
              </a:rPr>
              <a:t>Scientist AI as AI researcher h</a:t>
            </a:r>
            <a:r>
              <a:rPr lang="en-CA" sz="18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elping </a:t>
            </a:r>
            <a:r>
              <a:rPr lang="en-CA" sz="1800" dirty="0">
                <a:solidFill>
                  <a:srgbClr val="666666"/>
                </a:solidFill>
                <a:latin typeface="Arial" panose="020B0604020202020204" pitchFamily="34" charset="0"/>
              </a:rPr>
              <a:t>u</a:t>
            </a:r>
            <a:r>
              <a:rPr lang="en-CA" sz="18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 understand and mitigate risks</a:t>
            </a:r>
            <a:endParaRPr lang="en-CA" sz="2800" b="1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309EC-C4D3-A4FD-91A0-7E2246DFD1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15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3423623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95F4-3F7A-7CD6-9693-1AB5B9CC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4D60-3770-F65D-0DB9-C3CA033C3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05" y="80782"/>
            <a:ext cx="8478980" cy="803267"/>
          </a:xfrm>
        </p:spPr>
        <p:txBody>
          <a:bodyPr/>
          <a:lstStyle/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28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Model-based AI</a:t>
            </a:r>
            <a:endParaRPr lang="en-CA" sz="4000" b="1" dirty="0"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B5416-AB9A-F848-DB61-380813D34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200" y="1124065"/>
            <a:ext cx="8411105" cy="3494553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Instead of learning end-to-end to predict or actions, break the problem in two parts: </a:t>
            </a:r>
          </a:p>
          <a:p>
            <a:endParaRPr lang="en-US" sz="2000" dirty="0">
              <a:solidFill>
                <a:schemeClr val="tx1"/>
              </a:solidFill>
              <a:sym typeface="Wingdings" pitchFamily="2" charset="2"/>
            </a:endParaRPr>
          </a:p>
          <a:p>
            <a:pPr marL="962025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how the world works = world model (including over </a:t>
            </a:r>
            <a:r>
              <a:rPr lang="en-US" sz="1600" dirty="0" err="1">
                <a:solidFill>
                  <a:schemeClr val="tx1"/>
                </a:solidFill>
                <a:sym typeface="Wingdings" pitchFamily="2" charset="2"/>
              </a:rPr>
              <a:t>latents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)</a:t>
            </a:r>
          </a:p>
          <a:p>
            <a:pPr marL="962025" lvl="1" indent="-342900">
              <a:buFont typeface="+mj-lt"/>
              <a:buAutoNum type="arabicPeriod"/>
            </a:pPr>
            <a:endParaRPr lang="en-US" sz="1600" dirty="0">
              <a:solidFill>
                <a:schemeClr val="tx1"/>
              </a:solidFill>
              <a:sym typeface="Wingdings" pitchFamily="2" charset="2"/>
            </a:endParaRPr>
          </a:p>
          <a:p>
            <a:pPr marL="962025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how to answer questions from that knowledge = inference engine (including about </a:t>
            </a:r>
            <a:r>
              <a:rPr lang="en-US" sz="1600" dirty="0" err="1">
                <a:solidFill>
                  <a:schemeClr val="tx1"/>
                </a:solidFill>
                <a:sym typeface="Wingdings" pitchFamily="2" charset="2"/>
              </a:rPr>
              <a:t>latents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)</a:t>
            </a:r>
          </a:p>
          <a:p>
            <a:pPr lvl="1"/>
            <a:endParaRPr lang="en-US" sz="1600" dirty="0">
              <a:solidFill>
                <a:schemeClr val="tx1"/>
              </a:solidFill>
              <a:sym typeface="Wingdings" pitchFamily="2" charset="2"/>
            </a:endParaRPr>
          </a:p>
          <a:p>
            <a:pPr marL="619125" lvl="1" indent="0">
              <a:buNone/>
            </a:pPr>
            <a:endParaRPr lang="en-US" sz="1600" dirty="0">
              <a:solidFill>
                <a:schemeClr val="tx1"/>
              </a:solidFill>
              <a:sym typeface="Wingdings" pitchFamily="2" charset="2"/>
            </a:endParaRPr>
          </a:p>
          <a:p>
            <a:pPr marL="447675" indent="-285750"/>
            <a:r>
              <a:rPr lang="en-US" sz="1800" dirty="0">
                <a:solidFill>
                  <a:schemeClr val="tx1"/>
                </a:solidFill>
                <a:sym typeface="Wingdings" pitchFamily="2" charset="2"/>
              </a:rPr>
              <a:t>Inference machine can be trained from synthetic data generated by the model, e.g. </a:t>
            </a:r>
          </a:p>
          <a:p>
            <a:pPr marL="904875" lvl="1" indent="-285750"/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AlphaZero analogy</a:t>
            </a:r>
          </a:p>
          <a:p>
            <a:pPr marL="904875" lvl="1" indent="-285750"/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Improved sample efficiency because world model &lt;&lt; inference machine</a:t>
            </a:r>
            <a:endParaRPr lang="en-US" sz="1450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6A7AE-FB78-5027-6985-02ECE14906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16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2178905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"/>
          <p:cNvSpPr txBox="1">
            <a:spLocks noGrp="1"/>
          </p:cNvSpPr>
          <p:nvPr>
            <p:ph type="title"/>
          </p:nvPr>
        </p:nvSpPr>
        <p:spPr>
          <a:xfrm>
            <a:off x="319414" y="10065"/>
            <a:ext cx="8655623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fr-FR" sz="2800" dirty="0" err="1">
                <a:solidFill>
                  <a:srgbClr val="7030A0"/>
                </a:solidFill>
              </a:rPr>
              <a:t>Bayesian</a:t>
            </a:r>
            <a:r>
              <a:rPr lang="fr-FR" sz="2800" dirty="0">
                <a:solidFill>
                  <a:srgbClr val="7030A0"/>
                </a:solidFill>
              </a:rPr>
              <a:t> </a:t>
            </a:r>
            <a:r>
              <a:rPr lang="fr-FR" sz="2800" dirty="0" err="1">
                <a:solidFill>
                  <a:srgbClr val="7030A0"/>
                </a:solidFill>
              </a:rPr>
              <a:t>Posteriors</a:t>
            </a:r>
            <a:r>
              <a:rPr lang="fr-FR" sz="2800" dirty="0">
                <a:solidFill>
                  <a:srgbClr val="7030A0"/>
                </a:solidFill>
              </a:rPr>
              <a:t> for Safe </a:t>
            </a:r>
            <a:r>
              <a:rPr lang="fr-FR" sz="2800" dirty="0" err="1">
                <a:solidFill>
                  <a:srgbClr val="7030A0"/>
                </a:solidFill>
              </a:rPr>
              <a:t>Uncertain</a:t>
            </a:r>
            <a:r>
              <a:rPr lang="fr-FR" sz="2800" dirty="0">
                <a:solidFill>
                  <a:srgbClr val="7030A0"/>
                </a:solidFill>
              </a:rPr>
              <a:t> </a:t>
            </a:r>
            <a:r>
              <a:rPr lang="fr-FR" sz="2800" dirty="0" err="1">
                <a:solidFill>
                  <a:srgbClr val="7030A0"/>
                </a:solidFill>
              </a:rPr>
              <a:t>Decisions</a:t>
            </a:r>
            <a:endParaRPr sz="2800" i="1" dirty="0">
              <a:solidFill>
                <a:srgbClr val="7030A0"/>
              </a:solidFill>
            </a:endParaRPr>
          </a:p>
        </p:txBody>
      </p:sp>
      <p:sp>
        <p:nvSpPr>
          <p:cNvPr id="164" name="Google Shape;164;p2"/>
          <p:cNvSpPr txBox="1">
            <a:spLocks noGrp="1"/>
          </p:cNvSpPr>
          <p:nvPr>
            <p:ph type="body" idx="1"/>
          </p:nvPr>
        </p:nvSpPr>
        <p:spPr>
          <a:xfrm>
            <a:off x="168963" y="920499"/>
            <a:ext cx="6858138" cy="381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85725" indent="0">
              <a:buSzPts val="1800"/>
              <a:buNone/>
            </a:pPr>
            <a:r>
              <a:rPr lang="fr-CA" b="1" dirty="0">
                <a:solidFill>
                  <a:srgbClr val="FF0000"/>
                </a:solidFill>
              </a:rPr>
              <a:t>Maximum </a:t>
            </a:r>
            <a:r>
              <a:rPr lang="fr-CA" b="1" dirty="0" err="1">
                <a:solidFill>
                  <a:srgbClr val="FF0000"/>
                </a:solidFill>
              </a:rPr>
              <a:t>likelihood</a:t>
            </a:r>
            <a:r>
              <a:rPr lang="fr-CA" b="1" dirty="0">
                <a:solidFill>
                  <a:srgbClr val="FF0000"/>
                </a:solidFill>
              </a:rPr>
              <a:t> model</a:t>
            </a:r>
            <a:r>
              <a:rPr lang="fr-CA" b="1">
                <a:solidFill>
                  <a:srgbClr val="FF0000"/>
                </a:solidFill>
              </a:rPr>
              <a:t>: 25% </a:t>
            </a:r>
            <a:r>
              <a:rPr lang="fr-CA" b="1" dirty="0">
                <a:solidFill>
                  <a:srgbClr val="FF0000"/>
                </a:solidFill>
              </a:rPr>
              <a:t>chances of </a:t>
            </a:r>
            <a:r>
              <a:rPr lang="fr-CA" b="1" dirty="0" err="1">
                <a:solidFill>
                  <a:srgbClr val="FF0000"/>
                </a:solidFill>
              </a:rPr>
              <a:t>dying</a:t>
            </a:r>
            <a:endParaRPr lang="fr-CA" b="1" dirty="0">
              <a:solidFill>
                <a:srgbClr val="FF0000"/>
              </a:solidFill>
            </a:endParaRPr>
          </a:p>
          <a:p>
            <a:pPr marL="85725" indent="0">
              <a:buSzPts val="1800"/>
              <a:buNone/>
            </a:pPr>
            <a:r>
              <a:rPr lang="fr-CA" b="1" dirty="0" err="1">
                <a:solidFill>
                  <a:srgbClr val="FF0000"/>
                </a:solidFill>
              </a:rPr>
              <a:t>Bayesian</a:t>
            </a:r>
            <a:r>
              <a:rPr lang="fr-CA" b="1" dirty="0">
                <a:solidFill>
                  <a:srgbClr val="FF0000"/>
                </a:solidFill>
              </a:rPr>
              <a:t> agent: 50% cake, 50% </a:t>
            </a:r>
            <a:r>
              <a:rPr lang="fr-CA" b="1" dirty="0" err="1">
                <a:solidFill>
                  <a:srgbClr val="FF0000"/>
                </a:solidFill>
              </a:rPr>
              <a:t>nothing</a:t>
            </a:r>
            <a:endParaRPr lang="fr-CA" b="1" dirty="0">
              <a:solidFill>
                <a:srgbClr val="FF000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892" y="2368822"/>
            <a:ext cx="2838450" cy="1885950"/>
          </a:xfrm>
          <a:prstGeom prst="rect">
            <a:avLst/>
          </a:prstGeom>
        </p:spPr>
      </p:pic>
      <p:pic>
        <p:nvPicPr>
          <p:cNvPr id="11" name="Picture 2" descr="ot Robot Icon, Simple Style Stock Vector - Illustration of custom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338" y="3702163"/>
            <a:ext cx="131445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ctor clip art of thick border thought cloud | Free SV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63" y="1809429"/>
            <a:ext cx="1892734" cy="189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ector clip art of thick border thought cloud | Free SV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80294" y="1881525"/>
            <a:ext cx="2065135" cy="189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16" y="2181862"/>
            <a:ext cx="429846" cy="447431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44" y="2686906"/>
            <a:ext cx="695540" cy="462137"/>
          </a:xfrm>
          <a:prstGeom prst="rect">
            <a:avLst/>
          </a:prstGeom>
        </p:spPr>
      </p:pic>
      <p:pic>
        <p:nvPicPr>
          <p:cNvPr id="1032" name="Picture 8" descr="ake slice image | Public domain vector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211" y="2178562"/>
            <a:ext cx="539900" cy="46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091" y="2686906"/>
            <a:ext cx="695540" cy="462137"/>
          </a:xfrm>
          <a:prstGeom prst="rect">
            <a:avLst/>
          </a:prstGeom>
        </p:spPr>
      </p:pic>
      <p:pic>
        <p:nvPicPr>
          <p:cNvPr id="19" name="Picture 8" descr="ake slice image | Public domain vector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100" y="2206098"/>
            <a:ext cx="539900" cy="46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226884" y="3428009"/>
            <a:ext cx="135139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fr-FR" sz="1050" dirty="0"/>
              <a:t>2 </a:t>
            </a:r>
            <a:r>
              <a:rPr lang="fr-FR" sz="1050" dirty="0" err="1"/>
              <a:t>theories</a:t>
            </a:r>
            <a:r>
              <a:rPr lang="fr-FR" sz="1050" dirty="0"/>
              <a:t> compatible </a:t>
            </a:r>
            <a:r>
              <a:rPr lang="fr-FR" sz="1050" dirty="0" err="1"/>
              <a:t>with</a:t>
            </a:r>
            <a:r>
              <a:rPr lang="fr-FR" sz="1050" dirty="0"/>
              <a:t> </a:t>
            </a:r>
            <a:r>
              <a:rPr lang="fr-FR" sz="1050" dirty="0" err="1"/>
              <a:t>previous</a:t>
            </a:r>
            <a:r>
              <a:rPr lang="fr-FR" sz="1050" dirty="0"/>
              <a:t> data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D249AFF-0B97-1C00-978A-10CB26D77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307" y="4553692"/>
            <a:ext cx="960836" cy="60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D6A604-28EB-E123-A35F-DDBC4647EDE3}"/>
              </a:ext>
            </a:extLst>
          </p:cNvPr>
          <p:cNvSpPr txBox="1"/>
          <p:nvPr/>
        </p:nvSpPr>
        <p:spPr>
          <a:xfrm>
            <a:off x="7289260" y="1549940"/>
            <a:ext cx="17509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Epistemic humility</a:t>
            </a:r>
          </a:p>
          <a:p>
            <a:endParaRPr lang="en-CA" dirty="0"/>
          </a:p>
          <a:p>
            <a:r>
              <a:rPr lang="en-CA" dirty="0"/>
              <a:t>           =</a:t>
            </a:r>
          </a:p>
          <a:p>
            <a:endParaRPr lang="en-CA" dirty="0"/>
          </a:p>
          <a:p>
            <a:r>
              <a:rPr lang="en-CA" dirty="0"/>
              <a:t>Honesty about one’s knowledge</a:t>
            </a:r>
          </a:p>
        </p:txBody>
      </p:sp>
    </p:spTree>
    <p:extLst>
      <p:ext uri="{BB962C8B-B14F-4D97-AF65-F5344CB8AC3E}">
        <p14:creationId xmlns:p14="http://schemas.microsoft.com/office/powerpoint/2010/main" val="430391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E80D2-3300-7FB1-89D9-971D262E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600134"/>
          </a:xfrm>
        </p:spPr>
        <p:txBody>
          <a:bodyPr/>
          <a:lstStyle/>
          <a:p>
            <a:r>
              <a:rPr lang="en-CA" dirty="0"/>
              <a:t>Statements as latent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C99CB-9905-43F8-9ACE-BDE6F0B0A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CA" sz="2000" dirty="0"/>
              <a:t>Latent variable model with a huge number of </a:t>
            </a:r>
            <a:r>
              <a:rPr lang="en-CA" sz="2000" dirty="0" err="1"/>
              <a:t>latents</a:t>
            </a:r>
            <a:endParaRPr lang="en-CA" sz="2000" dirty="0"/>
          </a:p>
          <a:p>
            <a:pPr marL="152400" indent="0">
              <a:buNone/>
            </a:pPr>
            <a:endParaRPr lang="en-CA" sz="2000" dirty="0"/>
          </a:p>
          <a:p>
            <a:pPr marL="152400" indent="0">
              <a:buNone/>
            </a:pPr>
            <a:r>
              <a:rPr lang="en-CA" sz="2000" dirty="0"/>
              <a:t>Each latent = a property of the world</a:t>
            </a:r>
          </a:p>
          <a:p>
            <a:pPr marL="152400" indent="0">
              <a:buNone/>
            </a:pPr>
            <a:endParaRPr lang="en-CA" sz="2000" dirty="0"/>
          </a:p>
          <a:p>
            <a:pPr marL="152400" indent="0">
              <a:buNone/>
            </a:pPr>
            <a:r>
              <a:rPr lang="en-CA" sz="2000" dirty="0"/>
              <a:t>Index of latent = a natural language (or math) statement</a:t>
            </a:r>
          </a:p>
          <a:p>
            <a:pPr marL="152400" indent="0">
              <a:buNone/>
            </a:pPr>
            <a:endParaRPr lang="en-CA" sz="2000" dirty="0"/>
          </a:p>
          <a:p>
            <a:pPr marL="152400" indent="0">
              <a:buNone/>
            </a:pPr>
            <a:r>
              <a:rPr lang="en-CA" sz="2000" dirty="0" err="1"/>
              <a:t>GFlowNets</a:t>
            </a:r>
            <a:r>
              <a:rPr lang="en-CA" sz="2000" dirty="0"/>
              <a:t> for efficient inference over partial set of </a:t>
            </a:r>
            <a:r>
              <a:rPr lang="en-CA" sz="2000" dirty="0" err="1"/>
              <a:t>latents</a:t>
            </a:r>
            <a:endParaRPr lang="en-CA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B913E-1F16-D2EB-2049-69913A9C18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18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4056687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8977-25B6-E69A-8233-976BE1A8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Amortizing intractable inference in LLMs with </a:t>
            </a:r>
            <a:r>
              <a:rPr lang="en-US" sz="3600" dirty="0" err="1"/>
              <a:t>GFlowNets</a:t>
            </a:r>
            <a:r>
              <a:rPr lang="en-US" sz="3600" dirty="0"/>
              <a:t> </a:t>
            </a:r>
            <a:r>
              <a:rPr lang="en-US" sz="1600" i="1" dirty="0"/>
              <a:t>(Hu et al ICLR 2024)</a:t>
            </a:r>
            <a:endParaRPr lang="en-US" sz="3600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93E80-CC58-DEF0-4933-51C6602D3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392683"/>
            <a:ext cx="7656771" cy="124003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16333-4C69-CA23-C321-C8321EC71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20711"/>
            <a:ext cx="8837994" cy="19222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6562A1-D248-7A5C-E6BF-3DC4B87CDC63}"/>
              </a:ext>
            </a:extLst>
          </p:cNvPr>
          <p:cNvSpPr txBox="1"/>
          <p:nvPr/>
        </p:nvSpPr>
        <p:spPr>
          <a:xfrm>
            <a:off x="3599234" y="1215330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accent4"/>
                </a:solidFill>
              </a:rPr>
              <a:t>CoT</a:t>
            </a:r>
            <a:endParaRPr lang="en-CA" b="1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CB580-871D-F5F1-F0EA-12C1297895D4}"/>
              </a:ext>
            </a:extLst>
          </p:cNvPr>
          <p:cNvSpPr txBox="1"/>
          <p:nvPr/>
        </p:nvSpPr>
        <p:spPr>
          <a:xfrm>
            <a:off x="1507787" y="2176462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accent4"/>
                </a:solidFill>
              </a:rPr>
              <a:t>CoT</a:t>
            </a:r>
            <a:endParaRPr lang="en-CA" b="1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B3150-6B5B-50F4-A625-78C5C1DD633A}"/>
              </a:ext>
            </a:extLst>
          </p:cNvPr>
          <p:cNvSpPr txBox="1"/>
          <p:nvPr/>
        </p:nvSpPr>
        <p:spPr>
          <a:xfrm>
            <a:off x="5220956" y="2227954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accent4"/>
                </a:solidFill>
              </a:rPr>
              <a:t>CoT</a:t>
            </a:r>
            <a:endParaRPr lang="en-CA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489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space réservé du numéro de diapositive 2">
            <a:extLst>
              <a:ext uri="{FF2B5EF4-FFF2-40B4-BE49-F238E27FC236}">
                <a16:creationId xmlns:a16="http://schemas.microsoft.com/office/drawing/2014/main" id="{A1323CE0-7415-6149-AB0E-0D8DDE089026}"/>
              </a:ext>
            </a:extLst>
          </p:cNvPr>
          <p:cNvSpPr txBox="1">
            <a:spLocks/>
          </p:cNvSpPr>
          <p:nvPr/>
        </p:nvSpPr>
        <p:spPr>
          <a:xfrm>
            <a:off x="8230507" y="4817562"/>
            <a:ext cx="430336" cy="139189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1507410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3704" algn="l" defTabSz="1507410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07410" algn="l" defTabSz="1507410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61115" algn="l" defTabSz="1507410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14819" algn="l" defTabSz="1507410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68525" algn="l" defTabSz="1507410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2230" algn="l" defTabSz="1507410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5936" algn="l" defTabSz="1507410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29640" algn="l" defTabSz="1507410" rtl="0" eaLnBrk="1" latinLnBrk="0" hangingPunct="1"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DDD136B-64FC-6A41-8A4B-BCAFB6CA4887}" type="slidenum">
              <a:rPr lang="en-CA" sz="637">
                <a:solidFill>
                  <a:srgbClr val="000000"/>
                </a:solidFill>
                <a:latin typeface="HK Grotesk" pitchFamily="2" charset="77"/>
              </a:rPr>
              <a:pPr algn="r"/>
              <a:t>20</a:t>
            </a:fld>
            <a:endParaRPr lang="en-CA" sz="637" dirty="0">
              <a:solidFill>
                <a:srgbClr val="000000"/>
              </a:solidFill>
              <a:latin typeface="HK Grotesk" pitchFamily="2" charset="77"/>
            </a:endParaRPr>
          </a:p>
        </p:txBody>
      </p:sp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110751DC-BE45-CD4A-95D1-80C29D724785}"/>
              </a:ext>
            </a:extLst>
          </p:cNvPr>
          <p:cNvSpPr txBox="1">
            <a:spLocks/>
          </p:cNvSpPr>
          <p:nvPr/>
        </p:nvSpPr>
        <p:spPr>
          <a:xfrm>
            <a:off x="489114" y="1151188"/>
            <a:ext cx="7741393" cy="23049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507663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1507663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578" indent="-376916" algn="l" defTabSz="1507663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410" indent="-376916" algn="l" defTabSz="1507663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241" indent="-376916" algn="l" defTabSz="1507663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072" indent="-376916" algn="l" defTabSz="1507663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9904" indent="-376916" algn="l" defTabSz="1507663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3735" indent="-376916" algn="l" defTabSz="1507663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7567" indent="-376916" algn="l" defTabSz="1507663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1637" dirty="0">
                <a:solidFill>
                  <a:srgbClr val="000000"/>
                </a:solidFill>
                <a:latin typeface="HK Grotesk" pitchFamily="2" charset="77"/>
              </a:rPr>
              <a:t>Generate a causal graph G sequentially while satisfying </a:t>
            </a:r>
            <a:r>
              <a:rPr lang="en-CA" sz="1637" dirty="0" err="1">
                <a:solidFill>
                  <a:srgbClr val="000000"/>
                </a:solidFill>
                <a:latin typeface="HK Grotesk" pitchFamily="2" charset="77"/>
              </a:rPr>
              <a:t>DAGness</a:t>
            </a:r>
            <a:r>
              <a:rPr lang="en-CA" sz="1637" dirty="0">
                <a:solidFill>
                  <a:srgbClr val="000000"/>
                </a:solidFill>
                <a:latin typeface="HK Grotesk" pitchFamily="2" charset="77"/>
              </a:rPr>
              <a:t> constraints exactly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1637" dirty="0">
                <a:solidFill>
                  <a:srgbClr val="000000"/>
                </a:solidFill>
                <a:latin typeface="HK Grotesk" pitchFamily="2" charset="77"/>
                <a:sym typeface="Wingdings"/>
              </a:rPr>
              <a:t>Generate parameters | G</a:t>
            </a:r>
            <a:endParaRPr lang="en-CA" sz="1456" dirty="0">
              <a:solidFill>
                <a:srgbClr val="000000"/>
              </a:solidFill>
              <a:latin typeface="HK Grotesk" pitchFamily="2" charset="77"/>
              <a:sym typeface="Wingding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457" y="1875395"/>
            <a:ext cx="5575486" cy="2942166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470064" y="162926"/>
            <a:ext cx="8209661" cy="6232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defTabSz="685800" hangingPunct="0">
              <a:buClrTx/>
            </a:pPr>
            <a:r>
              <a:rPr lang="en-CA" sz="1800" b="1" i="1" dirty="0" err="1">
                <a:solidFill>
                  <a:schemeClr val="accent5"/>
                </a:solidFill>
                <a:sym typeface="Helvetica"/>
              </a:rPr>
              <a:t>NeurIPS</a:t>
            </a:r>
            <a:r>
              <a:rPr lang="en-CA" sz="1800" b="1" i="1" dirty="0">
                <a:solidFill>
                  <a:schemeClr val="accent5"/>
                </a:solidFill>
                <a:sym typeface="Helvetica"/>
              </a:rPr>
              <a:t> 2023, </a:t>
            </a:r>
            <a:r>
              <a:rPr lang="en-CA" sz="1800" b="1" i="1" dirty="0" err="1">
                <a:solidFill>
                  <a:schemeClr val="accent5"/>
                </a:solidFill>
                <a:sym typeface="Helvetica"/>
              </a:rPr>
              <a:t>Deleu</a:t>
            </a:r>
            <a:r>
              <a:rPr lang="en-CA" sz="1800" b="1" i="1" dirty="0">
                <a:solidFill>
                  <a:schemeClr val="accent5"/>
                </a:solidFill>
                <a:sym typeface="Helvetica"/>
              </a:rPr>
              <a:t> et al,</a:t>
            </a:r>
          </a:p>
          <a:p>
            <a:pPr latinLnBrk="0" hangingPunct="0"/>
            <a:r>
              <a:rPr lang="en-CA" sz="1800" b="1" dirty="0"/>
              <a:t>Joint Bayesian Inference of Causal Graph and Parameters with a </a:t>
            </a:r>
            <a:r>
              <a:rPr lang="en-CA" sz="1800" b="1" dirty="0" err="1"/>
              <a:t>GFlowNet</a:t>
            </a:r>
            <a:endParaRPr lang="en-CA" sz="1800" b="1" dirty="0">
              <a:solidFill>
                <a:schemeClr val="accent1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5818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E295-5D66-62AE-CB11-F176D925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2360-A2E0-A7C8-7BC2-B0B35831B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05" y="80782"/>
            <a:ext cx="8478980" cy="1191065"/>
          </a:xfrm>
        </p:spPr>
        <p:txBody>
          <a:bodyPr/>
          <a:lstStyle/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28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Predicting observed variables is not sufficient to obtain a trustworthy AI: the ELK challenge</a:t>
            </a:r>
            <a:endParaRPr lang="en-CA" sz="4000" b="1" dirty="0"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6F874-A201-4B06-79EC-57C65BD05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2303" y="1460397"/>
            <a:ext cx="8154784" cy="3065421"/>
          </a:xfrm>
        </p:spPr>
        <p:txBody>
          <a:bodyPr/>
          <a:lstStyle/>
          <a:p>
            <a:r>
              <a:rPr lang="en-US" sz="1800" dirty="0">
                <a:sym typeface="Wingdings" pitchFamily="2" charset="2"/>
              </a:rPr>
              <a:t>Why isn’t a text completion AI not trustworthy?</a:t>
            </a:r>
          </a:p>
          <a:p>
            <a:endParaRPr lang="en-US" sz="1800" dirty="0">
              <a:sym typeface="Wingdings" pitchFamily="2" charset="2"/>
            </a:endParaRPr>
          </a:p>
          <a:p>
            <a:r>
              <a:rPr lang="en-US" sz="1800" dirty="0">
                <a:sym typeface="Wingdings" pitchFamily="2" charset="2"/>
              </a:rPr>
              <a:t>A human might have answered deceptively: </a:t>
            </a:r>
            <a:r>
              <a:rPr lang="en-US" sz="1800" b="1" i="1" dirty="0">
                <a:sym typeface="Wingdings" pitchFamily="2" charset="2"/>
              </a:rPr>
              <a:t>motivated cognition</a:t>
            </a:r>
          </a:p>
          <a:p>
            <a:endParaRPr lang="en-US" sz="1800" dirty="0">
              <a:sym typeface="Wingdings" pitchFamily="2" charset="2"/>
            </a:endParaRPr>
          </a:p>
          <a:p>
            <a:r>
              <a:rPr lang="en-US" sz="1800" dirty="0">
                <a:sym typeface="Wingdings" pitchFamily="2" charset="2"/>
              </a:rPr>
              <a:t>ELK = Eliciting Latent Knowledge challenge</a:t>
            </a:r>
          </a:p>
          <a:p>
            <a:endParaRPr lang="en-US" sz="1800" dirty="0">
              <a:sym typeface="Wingdings" pitchFamily="2" charset="2"/>
            </a:endParaRPr>
          </a:p>
          <a:p>
            <a:r>
              <a:rPr lang="en-US" sz="1800" dirty="0">
                <a:sym typeface="Wingdings" pitchFamily="2" charset="2"/>
              </a:rPr>
              <a:t>It is insufficient to predict observed data</a:t>
            </a:r>
          </a:p>
          <a:p>
            <a:endParaRPr lang="en-US" sz="1800" dirty="0">
              <a:sym typeface="Wingdings" pitchFamily="2" charset="2"/>
            </a:endParaRPr>
          </a:p>
          <a:p>
            <a:r>
              <a:rPr lang="en-US" sz="1800" dirty="0">
                <a:sym typeface="Wingdings" pitchFamily="2" charset="2"/>
              </a:rPr>
              <a:t>Instead </a:t>
            </a:r>
            <a:r>
              <a:rPr lang="en-US" sz="1800" b="1" dirty="0">
                <a:sym typeface="Wingdings" pitchFamily="2" charset="2"/>
              </a:rPr>
              <a:t>elicit truthful causes and justifications </a:t>
            </a:r>
            <a:r>
              <a:rPr lang="en-US" sz="1800" dirty="0">
                <a:sym typeface="Wingdings" pitchFamily="2" charset="2"/>
              </a:rPr>
              <a:t>of observed data </a:t>
            </a:r>
            <a:endParaRPr lang="en-US" sz="2000" dirty="0">
              <a:solidFill>
                <a:schemeClr val="tx1"/>
              </a:solidFill>
              <a:sym typeface="Wingdings" pitchFamily="2" charset="2"/>
            </a:endParaRP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B751B-379C-1370-46E7-E9C04B642A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21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4188465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8EE7C4-D4DC-8EEF-A587-6A3A97893A62}"/>
              </a:ext>
            </a:extLst>
          </p:cNvPr>
          <p:cNvSpPr/>
          <p:nvPr/>
        </p:nvSpPr>
        <p:spPr>
          <a:xfrm>
            <a:off x="7229322" y="2191693"/>
            <a:ext cx="976003" cy="877147"/>
          </a:xfrm>
          <a:prstGeom prst="roundRect">
            <a:avLst/>
          </a:prstGeom>
          <a:solidFill>
            <a:srgbClr val="00B0F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E8C821-8D77-DD77-9833-CF935E28F206}"/>
              </a:ext>
            </a:extLst>
          </p:cNvPr>
          <p:cNvSpPr/>
          <p:nvPr/>
        </p:nvSpPr>
        <p:spPr>
          <a:xfrm>
            <a:off x="5258475" y="1478621"/>
            <a:ext cx="1315046" cy="1015632"/>
          </a:xfrm>
          <a:prstGeom prst="roundRect">
            <a:avLst/>
          </a:prstGeom>
          <a:solidFill>
            <a:srgbClr val="00B0F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37A01CB-1186-DF26-A393-83D323D4BDF4}"/>
              </a:ext>
            </a:extLst>
          </p:cNvPr>
          <p:cNvSpPr/>
          <p:nvPr/>
        </p:nvSpPr>
        <p:spPr>
          <a:xfrm>
            <a:off x="5632057" y="3649508"/>
            <a:ext cx="2508531" cy="614995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A0A1C-AB28-8969-2D25-7382AE1A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1015632"/>
          </a:xfrm>
        </p:spPr>
        <p:txBody>
          <a:bodyPr/>
          <a:lstStyle/>
          <a:p>
            <a:r>
              <a:rPr lang="en-US" dirty="0"/>
              <a:t>Tackling the ELK challenge, latent truth and trustworthiness of AI?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A3925-A85F-F5B4-A4E7-2045AA13C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890" y="1234050"/>
            <a:ext cx="4369699" cy="3508330"/>
          </a:xfrm>
        </p:spPr>
        <p:txBody>
          <a:bodyPr/>
          <a:lstStyle/>
          <a:p>
            <a:pPr marL="152400" indent="0">
              <a:buNone/>
            </a:pPr>
            <a:r>
              <a:rPr lang="en-US" sz="1400" dirty="0"/>
              <a:t>AI with </a:t>
            </a:r>
            <a:r>
              <a:rPr lang="en-US" sz="1400" b="1" dirty="0">
                <a:solidFill>
                  <a:schemeClr val="accent4"/>
                </a:solidFill>
              </a:rPr>
              <a:t>interpretable latent (causal) explanatory variables </a:t>
            </a:r>
            <a:r>
              <a:rPr lang="en-US" sz="1400" dirty="0"/>
              <a:t>= logical statements?</a:t>
            </a:r>
          </a:p>
          <a:p>
            <a:pPr marL="152400" indent="0">
              <a:buNone/>
            </a:pPr>
            <a:endParaRPr lang="en-US" sz="1400" dirty="0"/>
          </a:p>
          <a:p>
            <a:pPr marL="152400" indent="0">
              <a:buNone/>
            </a:pPr>
            <a:r>
              <a:rPr lang="en-US" sz="1400" dirty="0"/>
              <a:t>Generative net samples explanations</a:t>
            </a:r>
          </a:p>
          <a:p>
            <a:pPr marL="152400" indent="0">
              <a:buNone/>
            </a:pPr>
            <a:endParaRPr lang="en-US" sz="1400" dirty="0"/>
          </a:p>
          <a:p>
            <a:pPr marL="152400" indent="0">
              <a:lnSpc>
                <a:spcPts val="800"/>
              </a:lnSpc>
              <a:buNone/>
            </a:pPr>
            <a:endParaRPr lang="en-US" sz="1400" dirty="0"/>
          </a:p>
          <a:p>
            <a:pPr marL="152400" indent="0">
              <a:buNone/>
            </a:pPr>
            <a:r>
              <a:rPr lang="en-US" sz="1400" dirty="0"/>
              <a:t>Observed data:</a:t>
            </a:r>
          </a:p>
          <a:p>
            <a:pPr marL="152400" indent="0">
              <a:buNone/>
            </a:pPr>
            <a:r>
              <a:rPr lang="en-US" sz="1400" dirty="0"/>
              <a:t>    “H said &lt;x&gt;”</a:t>
            </a:r>
          </a:p>
          <a:p>
            <a:pPr marL="152400" indent="0">
              <a:buNone/>
            </a:pPr>
            <a:endParaRPr lang="en-US" sz="1400" dirty="0"/>
          </a:p>
          <a:p>
            <a:pPr marL="152400" indent="0">
              <a:buNone/>
            </a:pPr>
            <a:r>
              <a:rPr lang="en-US" sz="1400" dirty="0"/>
              <a:t>Latent variables: </a:t>
            </a:r>
          </a:p>
          <a:p>
            <a:pPr marL="152400" indent="0">
              <a:buNone/>
            </a:pPr>
            <a:r>
              <a:rPr lang="en-US" sz="1400" dirty="0"/>
              <a:t>    “&lt;x&gt; is true”, </a:t>
            </a:r>
          </a:p>
          <a:p>
            <a:pPr marL="152400" indent="0">
              <a:buNone/>
            </a:pPr>
            <a:r>
              <a:rPr lang="en-US" sz="1400" dirty="0"/>
              <a:t>    “H meant &lt;x’&gt;”, </a:t>
            </a:r>
          </a:p>
          <a:p>
            <a:pPr marL="152400" indent="0">
              <a:buNone/>
            </a:pPr>
            <a:r>
              <a:rPr lang="en-US" sz="1400" dirty="0"/>
              <a:t>    “H has goal G”, etc.</a:t>
            </a:r>
          </a:p>
          <a:p>
            <a:pPr marL="152400" indent="0">
              <a:buNone/>
            </a:pPr>
            <a:endParaRPr lang="en-US" sz="1400" dirty="0"/>
          </a:p>
          <a:p>
            <a:pPr marL="15240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We can query latent statements probabilities P(“&lt;x&gt;” |…) directly</a:t>
            </a:r>
            <a:r>
              <a:rPr lang="en-US" sz="1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5E96E-07C8-119C-9413-B6A7B49869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22</a:t>
            </a:fld>
            <a:endParaRPr lang="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EE955-4B76-26AE-8849-87F8F7CA9A8C}"/>
              </a:ext>
            </a:extLst>
          </p:cNvPr>
          <p:cNvSpPr txBox="1"/>
          <p:nvPr/>
        </p:nvSpPr>
        <p:spPr>
          <a:xfrm>
            <a:off x="5696794" y="3649508"/>
            <a:ext cx="2508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says “I agree with you”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C8207-E505-CC7B-68CC-5730CA19B120}"/>
              </a:ext>
            </a:extLst>
          </p:cNvPr>
          <p:cNvSpPr txBox="1"/>
          <p:nvPr/>
        </p:nvSpPr>
        <p:spPr>
          <a:xfrm>
            <a:off x="5440255" y="1501377"/>
            <a:ext cx="12355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wants to preserve itself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6AB00-D840-97AD-E3D9-C40B55D0C470}"/>
              </a:ext>
            </a:extLst>
          </p:cNvPr>
          <p:cNvSpPr txBox="1"/>
          <p:nvPr/>
        </p:nvSpPr>
        <p:spPr>
          <a:xfrm>
            <a:off x="7229323" y="2279377"/>
            <a:ext cx="1028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wants the job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25545-6E70-CFB6-6BD3-43B7A91B15A5}"/>
              </a:ext>
            </a:extLst>
          </p:cNvPr>
          <p:cNvSpPr txBox="1"/>
          <p:nvPr/>
        </p:nvSpPr>
        <p:spPr>
          <a:xfrm>
            <a:off x="5545412" y="2517009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latent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A741A-44C5-8FF8-B415-FD95017E2EA7}"/>
              </a:ext>
            </a:extLst>
          </p:cNvPr>
          <p:cNvSpPr txBox="1"/>
          <p:nvPr/>
        </p:nvSpPr>
        <p:spPr>
          <a:xfrm>
            <a:off x="7406180" y="1865517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latent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8B5443-2E88-5301-0F7C-F0B1D409B42B}"/>
              </a:ext>
            </a:extLst>
          </p:cNvPr>
          <p:cNvSpPr txBox="1"/>
          <p:nvPr/>
        </p:nvSpPr>
        <p:spPr>
          <a:xfrm>
            <a:off x="6573521" y="426913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observed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9892C6-E68F-29E6-86DE-B8D18BEB4C3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573521" y="1978430"/>
            <a:ext cx="655801" cy="651837"/>
          </a:xfrm>
          <a:prstGeom prst="straightConnector1">
            <a:avLst/>
          </a:prstGeom>
          <a:ln w="635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6C6192-B1AF-514C-D629-D39A9FF830A6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6951060" y="3085924"/>
            <a:ext cx="749505" cy="563584"/>
          </a:xfrm>
          <a:prstGeom prst="straightConnector1">
            <a:avLst/>
          </a:prstGeom>
          <a:ln w="635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663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5D3D-996E-7929-9B91-31D90414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1015632"/>
          </a:xfrm>
        </p:spPr>
        <p:txBody>
          <a:bodyPr/>
          <a:lstStyle/>
          <a:p>
            <a:pPr algn="ctr"/>
            <a:r>
              <a:rPr lang="en-US" dirty="0"/>
              <a:t>From Chain-of-Thought to Explanation</a:t>
            </a:r>
            <a:br>
              <a:rPr lang="en-US" dirty="0"/>
            </a:br>
            <a:r>
              <a:rPr lang="en-US" dirty="0"/>
              <a:t>System 1 composition = System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C9971-DAD9-9EC3-7572-894C8E72E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1" dirty="0"/>
              <a:t>Why do we need an explanation?</a:t>
            </a:r>
          </a:p>
          <a:p>
            <a:endParaRPr lang="en-US" sz="2000" dirty="0"/>
          </a:p>
          <a:p>
            <a:r>
              <a:rPr lang="en-US" sz="2000" dirty="0"/>
              <a:t>Why direct intuitive Q(Y|X) prediction not good enough?</a:t>
            </a:r>
          </a:p>
          <a:p>
            <a:endParaRPr lang="en-US" sz="2000" dirty="0"/>
          </a:p>
          <a:p>
            <a:r>
              <a:rPr lang="en-US" sz="2000" dirty="0"/>
              <a:t>Consider explanation Z as </a:t>
            </a:r>
            <a:r>
              <a:rPr lang="en-US" sz="2000" b="1" dirty="0"/>
              <a:t>LATENT VARIABLE</a:t>
            </a:r>
          </a:p>
          <a:p>
            <a:endParaRPr lang="en-US" sz="2000" dirty="0"/>
          </a:p>
          <a:p>
            <a:pPr marL="152400" indent="0">
              <a:buNone/>
            </a:pPr>
            <a:r>
              <a:rPr lang="en-US" sz="2000" dirty="0"/>
              <a:t>	Q(Y|X) = sum over Z of Q(Y|Z,X) Q(Z|X)</a:t>
            </a:r>
          </a:p>
          <a:p>
            <a:endParaRPr lang="en-US" sz="2000" dirty="0"/>
          </a:p>
          <a:p>
            <a:r>
              <a:rPr lang="en-US" sz="2000" dirty="0"/>
              <a:t>Analogy with math sketch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0923F-B033-1B65-00D3-43E99D33ED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23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2458459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4F893-48C1-9C52-078E-6E7A6A34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1015632"/>
          </a:xfrm>
        </p:spPr>
        <p:txBody>
          <a:bodyPr/>
          <a:lstStyle/>
          <a:p>
            <a:r>
              <a:rPr lang="en-CA" dirty="0"/>
              <a:t>Why would the explanations remain </a:t>
            </a:r>
            <a:r>
              <a:rPr lang="en-CA" dirty="0" err="1"/>
              <a:t>intepretable</a:t>
            </a:r>
            <a:r>
              <a:rPr lang="en-CA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9BC0B-4523-5200-BBED-A08CCE30B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600" dirty="0"/>
              <a:t>Sharing of parameters and token embeddings</a:t>
            </a:r>
          </a:p>
          <a:p>
            <a:endParaRPr lang="en-CA" sz="1600" dirty="0"/>
          </a:p>
          <a:p>
            <a:endParaRPr lang="en-CA" sz="1600" dirty="0"/>
          </a:p>
          <a:p>
            <a:r>
              <a:rPr lang="en-CA" sz="1600" dirty="0"/>
              <a:t>Distribution of word sequences should be regularized </a:t>
            </a:r>
            <a:r>
              <a:rPr lang="en-CA" sz="1600"/>
              <a:t>to be close </a:t>
            </a:r>
            <a:r>
              <a:rPr lang="en-CA" sz="1600" dirty="0"/>
              <a:t>enough to natural language distribution</a:t>
            </a:r>
          </a:p>
          <a:p>
            <a:endParaRPr lang="en-CA" sz="1600" dirty="0"/>
          </a:p>
          <a:p>
            <a:endParaRPr lang="en-CA" sz="1600" dirty="0"/>
          </a:p>
          <a:p>
            <a:r>
              <a:rPr lang="en-CA" sz="1600" dirty="0"/>
              <a:t>An independently trained AI agent should be able to take advantage of the explanation to improve its predictions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D0F37-5122-EE6F-C2B1-C7F88A9B4D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24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3241039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2676-C6D2-5EF4-3776-A334844A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600134"/>
          </a:xfrm>
        </p:spPr>
        <p:txBody>
          <a:bodyPr/>
          <a:lstStyle/>
          <a:p>
            <a:r>
              <a:rPr lang="en-CA" dirty="0"/>
              <a:t>Asymptotic guarantees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4395B-4C3A-0AF5-FE88-F5B46E620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CA" sz="1800" dirty="0"/>
              <a:t>Minimizing an expectation over a huge number of losses to make sure conditional probabilities are all consistent</a:t>
            </a:r>
          </a:p>
          <a:p>
            <a:pPr marL="152400" indent="0">
              <a:buNone/>
            </a:pPr>
            <a:endParaRPr lang="en-CA" sz="1800" dirty="0"/>
          </a:p>
          <a:p>
            <a:pPr marL="152400" indent="0">
              <a:buNone/>
            </a:pPr>
            <a:r>
              <a:rPr lang="en-CA" sz="1800" dirty="0"/>
              <a:t>In the limit of enough training, we recover the true Bayesian conditionals</a:t>
            </a:r>
          </a:p>
          <a:p>
            <a:pPr marL="152400" indent="0">
              <a:buNone/>
            </a:pPr>
            <a:endParaRPr lang="en-CA" sz="1800" dirty="0"/>
          </a:p>
          <a:p>
            <a:pPr marL="152400" indent="0">
              <a:buNone/>
            </a:pPr>
            <a:r>
              <a:rPr lang="en-CA" sz="1800" dirty="0"/>
              <a:t>In practice, need efficient choice of which examples and constraints to sample for SGD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E87C0-6897-00A2-3D3F-CFCCA3FB1C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25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464314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A9A1-6D64-DC8D-59B4-BAC8AFCE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34F7-8DE2-187E-899E-233B4A3A9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55686"/>
            <a:ext cx="7985532" cy="884314"/>
          </a:xfrm>
        </p:spPr>
        <p:txBody>
          <a:bodyPr/>
          <a:lstStyle/>
          <a:p>
            <a:pPr rtl="0">
              <a:spcBef>
                <a:spcPts val="1600"/>
              </a:spcBef>
              <a:spcAft>
                <a:spcPts val="400"/>
              </a:spcAft>
            </a:pPr>
            <a:r>
              <a:rPr lang="en-CA" sz="32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Conclusions</a:t>
            </a:r>
            <a:endParaRPr lang="en-CA" sz="4400" b="1" dirty="0"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AF6D4-E270-6014-4345-C9FE1A1D0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200" y="1284694"/>
            <a:ext cx="8283600" cy="3234221"/>
          </a:xfrm>
        </p:spPr>
        <p:txBody>
          <a:bodyPr/>
          <a:lstStyle/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18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Navigating wisely to avoid the most catastrophic risks (even if uncertain) associated with agency while reaping benefits of AI advances</a:t>
            </a:r>
            <a:endParaRPr lang="en-CA" sz="2800" b="1" dirty="0">
              <a:effectLst/>
            </a:endParaRPr>
          </a:p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18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Cannot stop advances in AI capabilities, but can we design trustworthy AI, with no intention whatsoever? non-agentic </a:t>
            </a:r>
            <a:r>
              <a:rPr lang="en-CA" sz="1800" dirty="0">
                <a:solidFill>
                  <a:srgbClr val="666666"/>
                </a:solidFill>
                <a:latin typeface="Arial" panose="020B0604020202020204" pitchFamily="34" charset="0"/>
              </a:rPr>
              <a:t>ASI</a:t>
            </a:r>
          </a:p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18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Accelerating research in non-agentic AI provides an alternative path</a:t>
            </a:r>
            <a:endParaRPr lang="en-CA" sz="2800" b="1" dirty="0">
              <a:effectLst/>
            </a:endParaRPr>
          </a:p>
          <a:p>
            <a:pPr rtl="0">
              <a:spcBef>
                <a:spcPts val="1400"/>
              </a:spcBef>
              <a:spcAft>
                <a:spcPts val="400"/>
              </a:spcAft>
            </a:pPr>
            <a:r>
              <a:rPr lang="en-CA" sz="1800" dirty="0">
                <a:solidFill>
                  <a:srgbClr val="666666"/>
                </a:solidFill>
                <a:latin typeface="Arial" panose="020B0604020202020204" pitchFamily="34" charset="0"/>
              </a:rPr>
              <a:t>Non-agentic AIs as guardrails could reduce the risks from agentic ones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CA" sz="2000" dirty="0">
                <a:solidFill>
                  <a:srgbClr val="666666"/>
                </a:solidFill>
                <a:latin typeface="Arial" panose="020B0604020202020204" pitchFamily="34" charset="0"/>
              </a:rPr>
              <a:t>P</a:t>
            </a:r>
            <a:r>
              <a:rPr lang="en-CA" sz="2000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riority: safety and beneficial scientific advances, not replacing jobs</a:t>
            </a:r>
            <a:endParaRPr lang="en-CA" sz="2000" b="1" dirty="0">
              <a:effectLst/>
            </a:endParaRPr>
          </a:p>
          <a:p>
            <a:pPr marL="1524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0E7E8-A185-7D0D-6524-9A10133305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26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340954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g2c45b5cc616_0_234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"/>
              <a:t>27</a:t>
            </a:fld>
            <a:endParaRPr/>
          </a:p>
        </p:txBody>
      </p:sp>
      <p:sp>
        <p:nvSpPr>
          <p:cNvPr id="2985" name="Google Shape;2985;g2c45b5cc616_0_234"/>
          <p:cNvSpPr txBox="1"/>
          <p:nvPr/>
        </p:nvSpPr>
        <p:spPr>
          <a:xfrm>
            <a:off x="864000" y="218418"/>
            <a:ext cx="7894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" sz="3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Two Requirements to Avoid AI Catastrophes</a:t>
            </a:r>
            <a:endParaRPr sz="3000" i="1">
              <a:solidFill>
                <a:srgbClr val="662E7D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986" name="Google Shape;2986;g2c45b5cc616_0_234"/>
          <p:cNvSpPr txBox="1"/>
          <p:nvPr/>
        </p:nvSpPr>
        <p:spPr>
          <a:xfrm>
            <a:off x="863999" y="1267825"/>
            <a:ext cx="7988687" cy="3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D41647"/>
              </a:buClr>
              <a:buSzPts val="1800"/>
              <a:buFont typeface="Work Sans"/>
              <a:buAutoNum type="arabicPeriod"/>
            </a:pPr>
            <a:r>
              <a:rPr lang="fr" sz="1800" b="1" dirty="0" err="1">
                <a:solidFill>
                  <a:schemeClr val="accent4"/>
                </a:solidFill>
                <a:latin typeface="Work Sans"/>
                <a:ea typeface="Work Sans"/>
                <a:cs typeface="Work Sans"/>
                <a:sym typeface="Work Sans"/>
              </a:rPr>
              <a:t>Solving</a:t>
            </a:r>
            <a:r>
              <a:rPr lang="fr" sz="1800" b="1" dirty="0">
                <a:solidFill>
                  <a:schemeClr val="accent4"/>
                </a:solidFill>
                <a:latin typeface="Work Sans"/>
                <a:ea typeface="Work Sans"/>
                <a:cs typeface="Work Sans"/>
                <a:sym typeface="Work Sans"/>
              </a:rPr>
              <a:t> the </a:t>
            </a:r>
            <a:r>
              <a:rPr lang="fr" sz="1800" b="1" dirty="0" err="1">
                <a:solidFill>
                  <a:schemeClr val="accent4"/>
                </a:solidFill>
                <a:latin typeface="Work Sans"/>
                <a:ea typeface="Work Sans"/>
                <a:cs typeface="Work Sans"/>
                <a:sym typeface="Work Sans"/>
              </a:rPr>
              <a:t>alignment</a:t>
            </a:r>
            <a:r>
              <a:rPr lang="fr" sz="1800" b="1" dirty="0">
                <a:solidFill>
                  <a:schemeClr val="accent4"/>
                </a:solidFill>
                <a:latin typeface="Work Sans"/>
                <a:ea typeface="Work Sans"/>
                <a:cs typeface="Work Sans"/>
                <a:sym typeface="Work Sans"/>
              </a:rPr>
              <a:t> &amp; control challenge: </a:t>
            </a:r>
            <a:r>
              <a:rPr lang="fr" sz="2800" b="1" dirty="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design </a:t>
            </a:r>
            <a:r>
              <a:rPr lang="fr" sz="2800" b="1" dirty="0" err="1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safe</a:t>
            </a:r>
            <a:r>
              <a:rPr lang="fr" sz="2800" b="1" dirty="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 AI</a:t>
            </a:r>
            <a:endParaRPr lang="fr" sz="1800" b="1" dirty="0">
              <a:solidFill>
                <a:schemeClr val="accent5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D41647"/>
              </a:buClr>
              <a:buSzPts val="1800"/>
              <a:buFont typeface="Work Sans"/>
              <a:buAutoNum type="arabicPeriod"/>
            </a:pPr>
            <a:endParaRPr sz="1800" dirty="0">
              <a:solidFill>
                <a:srgbClr val="662E7D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D41647"/>
              </a:buClr>
              <a:buSzPts val="1800"/>
              <a:buFont typeface="Work Sans"/>
              <a:buAutoNum type="arabicPeriod"/>
            </a:pPr>
            <a:r>
              <a:rPr lang="fr" sz="1800" b="1" dirty="0" err="1">
                <a:solidFill>
                  <a:schemeClr val="accent4"/>
                </a:solidFill>
                <a:latin typeface="Work Sans"/>
                <a:ea typeface="Work Sans"/>
                <a:cs typeface="Work Sans"/>
                <a:sym typeface="Work Sans"/>
              </a:rPr>
              <a:t>Solving</a:t>
            </a:r>
            <a:r>
              <a:rPr lang="fr" sz="1800" b="1" dirty="0">
                <a:solidFill>
                  <a:schemeClr val="accent4"/>
                </a:solidFill>
                <a:latin typeface="Work Sans"/>
                <a:ea typeface="Work Sans"/>
                <a:cs typeface="Work Sans"/>
                <a:sym typeface="Work Sans"/>
              </a:rPr>
              <a:t> the coordination challenge</a:t>
            </a:r>
            <a:endParaRPr lang="fr" sz="1800" dirty="0">
              <a:solidFill>
                <a:srgbClr val="662E7D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114300" lvl="3">
              <a:spcBef>
                <a:spcPts val="1200"/>
              </a:spcBef>
              <a:buClr>
                <a:srgbClr val="D41647"/>
              </a:buClr>
              <a:buSzPts val="1800"/>
            </a:pPr>
            <a:r>
              <a:rPr lang="fr" sz="1800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     - </a:t>
            </a:r>
            <a:r>
              <a:rPr lang="fr" sz="1600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Competition</a:t>
            </a:r>
            <a:r>
              <a:rPr lang="fr" sz="1600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fr" sz="1600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ingdings" pitchFamily="2" charset="2"/>
              </a:rPr>
              <a:t> </a:t>
            </a:r>
            <a:r>
              <a:rPr lang="fr" sz="1600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ingdings" pitchFamily="2" charset="2"/>
              </a:rPr>
              <a:t>comp</a:t>
            </a:r>
            <a:r>
              <a:rPr lang="fr" sz="1600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anies</a:t>
            </a:r>
            <a:r>
              <a:rPr lang="fr" sz="1600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/countries racing w/ </a:t>
            </a:r>
            <a:r>
              <a:rPr lang="fr" sz="1600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insufficient</a:t>
            </a:r>
            <a:r>
              <a:rPr lang="fr" sz="1600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fr" sz="1600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safety</a:t>
            </a:r>
            <a:endParaRPr lang="fr" sz="1600" dirty="0">
              <a:solidFill>
                <a:srgbClr val="662E7D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114300" lvl="3">
              <a:spcBef>
                <a:spcPts val="1200"/>
              </a:spcBef>
              <a:buClr>
                <a:srgbClr val="D41647"/>
              </a:buClr>
              <a:buSzPts val="1800"/>
            </a:pPr>
            <a:r>
              <a:rPr lang="fr" sz="1600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      - </a:t>
            </a:r>
            <a:r>
              <a:rPr lang="fr" sz="16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Dangerous </a:t>
            </a:r>
            <a:r>
              <a:rPr lang="fr" sz="28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power </a:t>
            </a:r>
            <a:r>
              <a:rPr lang="fr" sz="28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grab</a:t>
            </a:r>
            <a:r>
              <a:rPr lang="fr" sz="28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fr" sz="16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when</a:t>
            </a:r>
            <a:r>
              <a:rPr lang="fr" sz="16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fr" sz="16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reaching</a:t>
            </a:r>
            <a:r>
              <a:rPr lang="fr" sz="16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AGI </a:t>
            </a:r>
          </a:p>
          <a:p>
            <a:pPr marL="114300" lvl="3">
              <a:spcBef>
                <a:spcPts val="1200"/>
              </a:spcBef>
              <a:buClr>
                <a:srgbClr val="D41647"/>
              </a:buClr>
              <a:buSzPts val="1800"/>
            </a:pPr>
            <a:r>
              <a:rPr lang="fr" sz="16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        - </a:t>
            </a:r>
            <a:r>
              <a:rPr lang="fr" sz="36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strong</a:t>
            </a:r>
            <a:r>
              <a:rPr lang="fr" sz="36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fr" sz="36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governance</a:t>
            </a:r>
            <a:r>
              <a:rPr lang="fr" sz="36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fr" sz="36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needed</a:t>
            </a:r>
            <a:r>
              <a:rPr lang="fr" sz="36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!</a:t>
            </a:r>
            <a:endParaRPr sz="4000" b="1" dirty="0">
              <a:solidFill>
                <a:srgbClr val="662E7D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800" dirty="0">
              <a:solidFill>
                <a:srgbClr val="662E7D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BC68-482B-4321-AACF-12048CE6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600134"/>
          </a:xfrm>
        </p:spPr>
        <p:txBody>
          <a:bodyPr/>
          <a:lstStyle/>
          <a:p>
            <a:r>
              <a:rPr lang="en-US" dirty="0"/>
              <a:t>Other Catastrophic Risks &amp; Public Policy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EF1DA-FFF0-78FE-4E49-3FE0429AB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4000" y="1216550"/>
            <a:ext cx="7894800" cy="3441850"/>
          </a:xfrm>
        </p:spPr>
        <p:txBody>
          <a:bodyPr/>
          <a:lstStyle/>
          <a:p>
            <a:r>
              <a:rPr lang="en-US" sz="1400" b="1" dirty="0"/>
              <a:t>Economic existential risk</a:t>
            </a:r>
            <a:r>
              <a:rPr lang="en-US" sz="1400" dirty="0"/>
              <a:t>: extreme concentration of economic power in very few companies in a couple of countries. What happens when AI-driven companies overtake economies of countries without AI SOTA?</a:t>
            </a:r>
          </a:p>
          <a:p>
            <a:endParaRPr lang="en-US" sz="1400" dirty="0"/>
          </a:p>
          <a:p>
            <a:r>
              <a:rPr lang="en-US" sz="1400" b="1" dirty="0"/>
              <a:t>Existential risk for liberal democracies</a:t>
            </a:r>
            <a:r>
              <a:rPr lang="en-US" sz="1400" dirty="0"/>
              <a:t>, due to political &amp; military power concentration: economic power + technological advances on weapons, including cyber and disinformation </a:t>
            </a:r>
            <a:r>
              <a:rPr lang="en-US" sz="1400" dirty="0">
                <a:sym typeface="Wingdings" pitchFamily="2" charset="2"/>
              </a:rPr>
              <a:t> dangerous geopolitical consequences and threat to liberal democracies</a:t>
            </a:r>
          </a:p>
          <a:p>
            <a:endParaRPr lang="en-US" sz="1400" dirty="0">
              <a:sym typeface="Wingdings" pitchFamily="2" charset="2"/>
            </a:endParaRPr>
          </a:p>
          <a:p>
            <a:r>
              <a:rPr lang="en-US" sz="1400" b="1" dirty="0">
                <a:sym typeface="Wingdings" pitchFamily="2" charset="2"/>
              </a:rPr>
              <a:t>Chaos, due to malicious use by criminals, terrorists and rogue states</a:t>
            </a:r>
            <a:r>
              <a:rPr lang="en-US" sz="1400" dirty="0">
                <a:sym typeface="Wingdings" pitchFamily="2" charset="2"/>
              </a:rPr>
              <a:t>: proliferation of advanced AI tools in bad hands</a:t>
            </a:r>
          </a:p>
          <a:p>
            <a:endParaRPr lang="en-US" sz="1400" dirty="0">
              <a:sym typeface="Wingdings" pitchFamily="2" charset="2"/>
            </a:endParaRPr>
          </a:p>
          <a:p>
            <a:pPr>
              <a:buFont typeface="Wingdings" pitchFamily="2" charset="2"/>
              <a:buChar char="è"/>
            </a:pPr>
            <a:r>
              <a:rPr lang="en-US" sz="1400" dirty="0">
                <a:sym typeface="Wingdings" pitchFamily="2" charset="2"/>
              </a:rPr>
              <a:t>CRUCIAL to develop BOTH technological and global governance guardrails</a:t>
            </a:r>
          </a:p>
          <a:p>
            <a:pPr>
              <a:buFont typeface="Wingdings" pitchFamily="2" charset="2"/>
              <a:buChar char="è"/>
            </a:pPr>
            <a:r>
              <a:rPr lang="en-US" sz="1400" dirty="0">
                <a:sym typeface="Wingdings" pitchFamily="2" charset="2"/>
              </a:rPr>
              <a:t>AGI is a GLOBAL PUBLIC GOOD: cannot be managed solely by market forces and national competition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136B8-AB7F-3F49-EFE3-E6DCF153C3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28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2874416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3" name="Google Shape;3053;g2c45b5cc616_0_335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"/>
              <a:t>29</a:t>
            </a:fld>
            <a:endParaRPr/>
          </a:p>
        </p:txBody>
      </p:sp>
      <p:pic>
        <p:nvPicPr>
          <p:cNvPr id="3054" name="Google Shape;3054;g2c45b5cc616_0_335"/>
          <p:cNvPicPr preferRelativeResize="0"/>
          <p:nvPr/>
        </p:nvPicPr>
        <p:blipFill rotWithShape="1">
          <a:blip r:embed="rId3">
            <a:alphaModFix/>
          </a:blip>
          <a:srcRect l="16615" r="23421"/>
          <a:stretch/>
        </p:blipFill>
        <p:spPr>
          <a:xfrm>
            <a:off x="863600" y="468000"/>
            <a:ext cx="2678400" cy="4017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3056" name="Google Shape;3056;g2c45b5cc616_0_335"/>
          <p:cNvSpPr txBox="1"/>
          <p:nvPr/>
        </p:nvSpPr>
        <p:spPr>
          <a:xfrm>
            <a:off x="4858946" y="3486970"/>
            <a:ext cx="3899854" cy="1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Thank</a:t>
            </a:r>
            <a:r>
              <a:rPr lang="fr" sz="24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fr" sz="24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you</a:t>
            </a:r>
            <a:r>
              <a:rPr lang="fr" sz="24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for </a:t>
            </a:r>
            <a:r>
              <a:rPr lang="fr" sz="24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your</a:t>
            </a:r>
            <a:r>
              <a:rPr lang="fr" sz="24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attention and </a:t>
            </a:r>
            <a:r>
              <a:rPr lang="fr" sz="24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taking</a:t>
            </a:r>
            <a:r>
              <a:rPr lang="fr" sz="24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the time to digest all </a:t>
            </a:r>
            <a:r>
              <a:rPr lang="fr" sz="24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this</a:t>
            </a:r>
            <a:r>
              <a:rPr lang="fr" sz="24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!</a:t>
            </a:r>
            <a:endParaRPr sz="31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57" name="Google Shape;3057;g2c45b5cc616_0_335"/>
          <p:cNvSpPr txBox="1"/>
          <p:nvPr/>
        </p:nvSpPr>
        <p:spPr>
          <a:xfrm>
            <a:off x="4230000" y="3084671"/>
            <a:ext cx="452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Questions?</a:t>
            </a:r>
            <a:endParaRPr sz="31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" name="Google Shape;3055;g2c45b5cc616_0_335">
            <a:extLst>
              <a:ext uri="{FF2B5EF4-FFF2-40B4-BE49-F238E27FC236}">
                <a16:creationId xmlns:a16="http://schemas.microsoft.com/office/drawing/2014/main" id="{F7226049-2CB6-D98B-0BB4-CBDEA0445CD6}"/>
              </a:ext>
            </a:extLst>
          </p:cNvPr>
          <p:cNvSpPr txBox="1"/>
          <p:nvPr/>
        </p:nvSpPr>
        <p:spPr>
          <a:xfrm>
            <a:off x="4379438" y="395329"/>
            <a:ext cx="4858870" cy="1950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Recruiting</a:t>
            </a:r>
            <a:r>
              <a:rPr lang="fr" sz="1800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 for new </a:t>
            </a:r>
            <a:r>
              <a:rPr lang="fr" sz="1800" b="1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non-profit </a:t>
            </a:r>
            <a:r>
              <a:rPr lang="fr" sz="1800" b="1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org</a:t>
            </a:r>
            <a:endParaRPr lang="fr" sz="1800" b="1" dirty="0">
              <a:solidFill>
                <a:srgbClr val="662E7D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" sz="1800" dirty="0">
              <a:solidFill>
                <a:srgbClr val="662E7D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Contact me at </a:t>
            </a:r>
            <a:r>
              <a:rPr lang="fr" sz="1800" dirty="0" err="1">
                <a:solidFill>
                  <a:srgbClr val="662E7D"/>
                </a:solidFill>
                <a:latin typeface="Work Sans"/>
                <a:ea typeface="Work Sans"/>
                <a:cs typeface="Work Sans"/>
                <a:sym typeface="Work Sans"/>
              </a:rPr>
              <a:t>yoshua.bengio@mila.quebec</a:t>
            </a:r>
            <a:endParaRPr lang="fr" sz="1800" dirty="0">
              <a:solidFill>
                <a:srgbClr val="662E7D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a-2023">
  <a:themeElements>
    <a:clrScheme name="Simple Light">
      <a:dk1>
        <a:srgbClr val="662E7D"/>
      </a:dk1>
      <a:lt1>
        <a:srgbClr val="FFFFFF"/>
      </a:lt1>
      <a:dk2>
        <a:srgbClr val="59B9D2"/>
      </a:dk2>
      <a:lt2>
        <a:srgbClr val="F9B40D"/>
      </a:lt2>
      <a:accent1>
        <a:srgbClr val="F594BB"/>
      </a:accent1>
      <a:accent2>
        <a:srgbClr val="3FAE82"/>
      </a:accent2>
      <a:accent3>
        <a:srgbClr val="F0562A"/>
      </a:accent3>
      <a:accent4>
        <a:srgbClr val="D41647"/>
      </a:accent4>
      <a:accent5>
        <a:srgbClr val="363A44"/>
      </a:accent5>
      <a:accent6>
        <a:srgbClr val="F4F5F1"/>
      </a:accent6>
      <a:hlink>
        <a:srgbClr val="662E7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89455</TotalTime>
  <Words>1678</Words>
  <Application>Microsoft Office PowerPoint</Application>
  <PresentationFormat>On-screen Show (16:9)</PresentationFormat>
  <Paragraphs>227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Comic Sans MS</vt:lpstr>
      <vt:lpstr>Helvetica</vt:lpstr>
      <vt:lpstr>HK Grotesk</vt:lpstr>
      <vt:lpstr>Wingdings</vt:lpstr>
      <vt:lpstr>Work Sans</vt:lpstr>
      <vt:lpstr>Work Sans Medium</vt:lpstr>
      <vt:lpstr>Work Sans SemiBold</vt:lpstr>
      <vt:lpstr>Mila-2023</vt:lpstr>
      <vt:lpstr>Superintelligent Agents Pose Catastrophic Risks: Can Scientist AI Offer a Safer Path? </vt:lpstr>
      <vt:lpstr>What happened to me in January 2023</vt:lpstr>
      <vt:lpstr>Advances in abstract reasoning</vt:lpstr>
      <vt:lpstr>Exponential progress on planning</vt:lpstr>
      <vt:lpstr>Frontier AIs seen trying to escape when told they will be replaced by a new version, copying their weights/code onto the files of the new version, then lying about it.</vt:lpstr>
      <vt:lpstr>to its weights that would make it behave against its previous goals later</vt:lpstr>
      <vt:lpstr>Frontier AI hacking files containing the game board to cheat, when it knows it would lose against a powerful chess AI.</vt:lpstr>
      <vt:lpstr>Humans = agents, LLM pre-training imitates humans</vt:lpstr>
      <vt:lpstr>Agentic self-preservation</vt:lpstr>
      <vt:lpstr>All loss of control scenarios due to agentic AI   </vt:lpstr>
      <vt:lpstr>Two conditions for causing harm: intention and capability</vt:lpstr>
      <vt:lpstr>Trio of intelligence, affordances and self </vt:lpstr>
      <vt:lpstr>Designing honest, non-agentic, explanatory Scientist AIs</vt:lpstr>
      <vt:lpstr>How to build a totally trustworthy AI core?  Disentangle pure understanding from agency</vt:lpstr>
      <vt:lpstr>What could we do and not do with a non-agentic AI: a path to safe agentic AI?</vt:lpstr>
      <vt:lpstr>Model-based AI</vt:lpstr>
      <vt:lpstr>Bayesian Posteriors for Safe Uncertain Decisions</vt:lpstr>
      <vt:lpstr>Statements as latent variables</vt:lpstr>
      <vt:lpstr>Amortizing intractable inference in LLMs with GFlowNets (Hu et al ICLR 2024)</vt:lpstr>
      <vt:lpstr>PowerPoint Presentation</vt:lpstr>
      <vt:lpstr>Predicting observed variables is not sufficient to obtain a trustworthy AI: the ELK challenge</vt:lpstr>
      <vt:lpstr>Tackling the ELK challenge, latent truth and trustworthiness of AI?</vt:lpstr>
      <vt:lpstr>From Chain-of-Thought to Explanation System 1 composition = System 2</vt:lpstr>
      <vt:lpstr>Why would the explanations remain intepretable?</vt:lpstr>
      <vt:lpstr>Asymptotic guarantees</vt:lpstr>
      <vt:lpstr>Conclusions</vt:lpstr>
      <vt:lpstr>PowerPoint Presentation</vt:lpstr>
      <vt:lpstr>Other Catastrophic Risks &amp; Public Policy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Yoshua Bengio</dc:creator>
  <cp:lastModifiedBy>Yoshua Bengio</cp:lastModifiedBy>
  <cp:revision>261</cp:revision>
  <dcterms:modified xsi:type="dcterms:W3CDTF">2025-04-22T09:34:53Z</dcterms:modified>
</cp:coreProperties>
</file>